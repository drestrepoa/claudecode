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147479373" r:id="rId2"/>
    <p:sldId id="2147229680" r:id="rId3"/>
    <p:sldId id="2147478906" r:id="rId4"/>
    <p:sldId id="2147478978" r:id="rId5"/>
    <p:sldId id="2147479057" r:id="rId6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1"/>
  </p:normalViewPr>
  <p:slideViewPr>
    <p:cSldViewPr snapToGrid="0" showGuides="1">
      <p:cViewPr varScale="1">
        <p:scale>
          <a:sx n="111" d="100"/>
          <a:sy n="111" d="100"/>
        </p:scale>
        <p:origin x="440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C855B-FB71-B944-9A71-0C284CEB2C34}" type="datetimeFigureOut">
              <a:rPr lang="en-FR" smtClean="0"/>
              <a:t>23/09/2026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AF984-1959-D543-AC2C-1E3A4616064D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30976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0BD42-7C99-82D5-5372-82196C514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05EBE5-AFF1-1195-2BC4-131071FB6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07F8D-D8D0-D911-47CE-A0F7C90DD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B9727-7ED8-1F9E-89DB-3516862DF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20FEE-504B-CE4E-9481-2FCDB9B89497}" type="slidenum">
              <a:rPr kumimoji="0" lang="en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2662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E640D-53F2-D5DF-1CA5-CA6EB7369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4D19A-288E-85CE-0C7A-1F7CB4706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6AE810-9A8A-D075-B9B5-A627C183D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DD4F7-83D0-25BF-81EC-9F53FB71B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20FEE-504B-CE4E-9481-2FCDB9B89497}" type="slidenum">
              <a:rPr kumimoji="0" lang="en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0576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420FEE-504B-CE4E-9481-2FCDB9B89497}" type="slidenum">
              <a:rPr kumimoji="0" lang="en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817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4FAB6-FDA4-C57F-B4CF-642C02E07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D838B-2FFD-9215-702E-72EF489CC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D866D-FCB6-7A39-C8BA-59F589BAF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uses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AI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business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decisions</a:t>
            </a:r>
            <a:r>
              <a:rPr lang="de-DE" dirty="0"/>
              <a:t>, </a:t>
            </a:r>
            <a:r>
              <a:rPr lang="de-DE" dirty="0" err="1"/>
              <a:t>improve</a:t>
            </a:r>
            <a:r>
              <a:rPr lang="de-DE" dirty="0"/>
              <a:t> </a:t>
            </a:r>
            <a:r>
              <a:rPr lang="de-DE" dirty="0" err="1"/>
              <a:t>operations</a:t>
            </a:r>
            <a:r>
              <a:rPr lang="de-DE" dirty="0"/>
              <a:t>, and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enhance</a:t>
            </a:r>
            <a:r>
              <a:rPr lang="de-DE" dirty="0"/>
              <a:t> </a:t>
            </a:r>
            <a:r>
              <a:rPr lang="de-DE" dirty="0" err="1"/>
              <a:t>products</a:t>
            </a:r>
            <a:r>
              <a:rPr lang="de-DE" dirty="0"/>
              <a:t> and </a:t>
            </a:r>
            <a:r>
              <a:rPr lang="de-DE" dirty="0" err="1"/>
              <a:t>services</a:t>
            </a:r>
            <a:r>
              <a:rPr lang="de-DE" dirty="0"/>
              <a:t>—</a:t>
            </a:r>
            <a:r>
              <a:rPr lang="de-DE" dirty="0" err="1"/>
              <a:t>including</a:t>
            </a:r>
            <a:r>
              <a:rPr lang="de-DE" dirty="0"/>
              <a:t> </a:t>
            </a:r>
            <a:r>
              <a:rPr lang="de-DE" dirty="0" err="1"/>
              <a:t>innovation</a:t>
            </a:r>
            <a:r>
              <a:rPr lang="de-DE" dirty="0"/>
              <a:t>. The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an </a:t>
            </a:r>
            <a:r>
              <a:rPr lang="de-DE" dirty="0" err="1"/>
              <a:t>extension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business</a:t>
            </a:r>
            <a:r>
              <a:rPr lang="de-DE" dirty="0"/>
              <a:t> </a:t>
            </a:r>
            <a:r>
              <a:rPr lang="de-DE" dirty="0" err="1"/>
              <a:t>analytics</a:t>
            </a:r>
            <a:r>
              <a:rPr lang="de-DE" dirty="0"/>
              <a:t> and </a:t>
            </a:r>
            <a:r>
              <a:rPr lang="de-DE" dirty="0" err="1"/>
              <a:t>typically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(I </a:t>
            </a:r>
            <a:r>
              <a:rPr lang="de-DE" dirty="0" err="1"/>
              <a:t>called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 internal </a:t>
            </a:r>
            <a:r>
              <a:rPr lang="de-DE" dirty="0" err="1"/>
              <a:t>transparency</a:t>
            </a:r>
            <a:r>
              <a:rPr lang="de-DE" dirty="0"/>
              <a:t>)— </a:t>
            </a:r>
          </a:p>
          <a:p>
            <a:endParaRPr lang="de-DE" dirty="0"/>
          </a:p>
          <a:p>
            <a:r>
              <a:rPr lang="de-DE" dirty="0"/>
              <a:t>Source: https://hbr.org/2018/01/artificial-intelligence-for-the-real-world</a:t>
            </a:r>
          </a:p>
          <a:p>
            <a:endParaRPr lang="de-DE" dirty="0"/>
          </a:p>
          <a:p>
            <a:pPr algn="l"/>
            <a:r>
              <a:rPr lang="en-US" b="1" i="0" dirty="0">
                <a:solidFill>
                  <a:srgbClr val="282828"/>
                </a:solidFill>
                <a:effectLst/>
                <a:latin typeface="GT America"/>
              </a:rPr>
              <a:t>Process automation.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828"/>
                </a:solidFill>
                <a:effectLst/>
                <a:latin typeface="Tiempos Text"/>
              </a:rPr>
              <a:t>Of the 152 projects we studied, the most common type was the automation of digital and physical tasks—typically back-office administrative and financial activities—using robotic process automation technologies. RPA is more advanced than earlier business-process automation tools, because the “robots” (that is, code on a server) act like a human inputting and consuming information from multiple IT systems. Tasks </a:t>
            </a:r>
            <a:r>
              <a:rPr lang="en-US" b="0" i="0" dirty="0" err="1">
                <a:solidFill>
                  <a:srgbClr val="282828"/>
                </a:solidFill>
                <a:effectLst/>
                <a:latin typeface="Tiempos Text"/>
              </a:rPr>
              <a:t>include:</a:t>
            </a:r>
            <a:r>
              <a:rPr lang="en-US" b="1" i="0" dirty="0" err="1">
                <a:solidFill>
                  <a:srgbClr val="282828"/>
                </a:solidFill>
                <a:effectLst/>
                <a:latin typeface="Tiempos Text"/>
              </a:rPr>
              <a:t>transferring</a:t>
            </a:r>
            <a:r>
              <a:rPr lang="en-US" b="1" i="0" dirty="0">
                <a:solidFill>
                  <a:srgbClr val="282828"/>
                </a:solidFill>
                <a:effectLst/>
                <a:latin typeface="Tiempos Text"/>
              </a:rPr>
              <a:t> data from e-mail and call center systems into systems of record—for example, updating customer files with address changes or service additions;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82828"/>
                </a:solidFill>
                <a:effectLst/>
                <a:latin typeface="Tiempos Text"/>
              </a:rPr>
              <a:t>replacing lost credit or ATM cards, reaching into multiple systems to update records and handle customer communications;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82828"/>
                </a:solidFill>
                <a:effectLst/>
                <a:latin typeface="Tiempos Text"/>
              </a:rPr>
              <a:t>reconciling failures to charge for services across billing systems by extracting information from multiple document types; and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828"/>
                </a:solidFill>
                <a:effectLst/>
                <a:latin typeface="Tiempos Text"/>
              </a:rPr>
              <a:t>“reading” legal and contractual documents to extract provisions using natural language processing.</a:t>
            </a:r>
          </a:p>
          <a:p>
            <a:endParaRPr lang="en-US" dirty="0"/>
          </a:p>
          <a:p>
            <a:pPr algn="l"/>
            <a:r>
              <a:rPr lang="en-US" b="1" i="0" dirty="0">
                <a:solidFill>
                  <a:srgbClr val="282828"/>
                </a:solidFill>
                <a:effectLst/>
                <a:latin typeface="GT America"/>
              </a:rPr>
              <a:t>Cognitive insight.</a:t>
            </a:r>
          </a:p>
          <a:p>
            <a:pPr algn="l"/>
            <a:r>
              <a:rPr lang="en-US" b="0" i="0" dirty="0">
                <a:solidFill>
                  <a:srgbClr val="282828"/>
                </a:solidFill>
                <a:effectLst/>
                <a:latin typeface="Tiempos Text"/>
              </a:rPr>
              <a:t>The second most common type of project in our study (38% of the total) used algorithms to detect patterns in vast volumes of data and interpret their meaning. Think of it as “analytics on steroids.” </a:t>
            </a:r>
            <a:r>
              <a:rPr lang="en-US" b="1" i="0" dirty="0">
                <a:solidFill>
                  <a:srgbClr val="282828"/>
                </a:solidFill>
                <a:effectLst/>
                <a:latin typeface="Tiempos Text"/>
              </a:rPr>
              <a:t>These machine-learning applications are being used to</a:t>
            </a:r>
            <a:r>
              <a:rPr lang="en-US" b="0" i="0" dirty="0">
                <a:solidFill>
                  <a:srgbClr val="282828"/>
                </a:solidFill>
                <a:effectLst/>
                <a:latin typeface="Tiempos Text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82828"/>
                </a:solidFill>
                <a:effectLst/>
                <a:latin typeface="Tiempos Text"/>
              </a:rPr>
              <a:t>predict what a particular customer is likely to buy;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i="0" dirty="0">
                <a:solidFill>
                  <a:srgbClr val="282828"/>
                </a:solidFill>
                <a:effectLst/>
                <a:latin typeface="Tiempos Text"/>
              </a:rPr>
              <a:t>automate personalized targeting of digital ads;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82828"/>
                </a:solidFill>
                <a:effectLst/>
                <a:latin typeface="Tiempos Text"/>
              </a:rPr>
              <a:t>identify credit fraud in real time and detect insurance claims fraud;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828"/>
                </a:solidFill>
                <a:effectLst/>
                <a:latin typeface="Tiempos Text"/>
              </a:rPr>
              <a:t>analyze warranty data to identify safety or quality problems in automobiles and other manufactured products;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828"/>
                </a:solidFill>
                <a:effectLst/>
                <a:latin typeface="Tiempos Text"/>
              </a:rPr>
              <a:t>provide insurers with more-accurate and detailed actuarial modeling.</a:t>
            </a:r>
          </a:p>
          <a:p>
            <a:endParaRPr lang="en-US" dirty="0"/>
          </a:p>
          <a:p>
            <a:pPr algn="l"/>
            <a:r>
              <a:rPr lang="en-US" b="1" i="0" dirty="0">
                <a:solidFill>
                  <a:srgbClr val="282828"/>
                </a:solidFill>
                <a:effectLst/>
                <a:latin typeface="GT America"/>
              </a:rPr>
              <a:t>Cognitive engagement.</a:t>
            </a:r>
          </a:p>
          <a:p>
            <a:pPr algn="l"/>
            <a:r>
              <a:rPr lang="en-US" b="0" i="0" dirty="0">
                <a:solidFill>
                  <a:srgbClr val="282828"/>
                </a:solidFill>
                <a:effectLst/>
                <a:latin typeface="Tiempos Text"/>
              </a:rPr>
              <a:t>Projects that engage employees and customers using natural language processing chatbots, intelligent agents, and machine learning were the least common type in our study (accounting for 16% of the total). This category includes: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82828"/>
                </a:solidFill>
                <a:effectLst/>
                <a:latin typeface="Tiempos Text"/>
              </a:rPr>
              <a:t>intelligent agents that offer 24/7 customer service addressing a broad and growing array of issues from password requests to technical support questions—all in the customer’s natural language;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i="0" dirty="0">
                <a:solidFill>
                  <a:srgbClr val="282828"/>
                </a:solidFill>
                <a:effectLst/>
                <a:latin typeface="Tiempos Text"/>
              </a:rPr>
              <a:t>product and service recommendation systems for retailers that increase personalization, engagement, and sales—typically including rich language or images; and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828"/>
                </a:solidFill>
                <a:effectLst/>
                <a:latin typeface="Tiempos Text"/>
              </a:rPr>
              <a:t>internal sites for answering employee questions on topics including IT, employee benefits, and HR policy;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82828"/>
                </a:solidFill>
                <a:effectLst/>
                <a:latin typeface="Tiempos Text"/>
              </a:rPr>
              <a:t>health treatment recommendation systems that help providers create customized care plans that take into account individual patients’ health status and previous treatments.</a:t>
            </a:r>
          </a:p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0ABB7-F199-7B15-F83B-F25F5FFFFF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48825F-CC67-F248-8E5E-A43FC036B784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505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5C574-766D-2CE3-0751-58EB17C5E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1B1A02-448A-29D3-7DCD-3DA788846D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4BE40-C831-C385-1D24-FDD0CE562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$1T in savings projected by 2030–2035 through AI in banking. 50% of savings expected from front-office functions.</a:t>
            </a:r>
          </a:p>
          <a:p>
            <a:pPr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 reduces fraud, errors, and boosts automation &amp; customer experience.</a:t>
            </a:r>
          </a:p>
          <a:p>
            <a:pPr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Online banks now hold 6.5% of loan market and rising.</a:t>
            </a:r>
          </a:p>
          <a:p>
            <a:pPr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71% of users prefer managing accounts via app or computer.</a:t>
            </a:r>
          </a:p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E7BEF-ABDE-216F-E3BD-A37F36FEF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48825F-CC67-F248-8E5E-A43FC036B784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244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87116-9BBC-E448-AA9E-CE76D65F0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B766C9-0290-0643-8E8F-D8EEFF740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3112A-D31B-9448-9DDD-0E49EB837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D22A-64F3-4D4F-91F5-1E3D70B25D3C}" type="datetimeFigureOut">
              <a:rPr lang="en-FR" smtClean="0"/>
              <a:t>23/09/2026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87698-9559-F247-A454-B7BD9EF15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F2AA9-F094-334F-A1AD-00B3178A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BD4D3-4AB8-2F4A-9274-7EF561B8B59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75995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1AEF4-5F3B-8646-A2F4-1D7D43957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4CC77-638C-2345-91C6-5651A75C4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D1664-9342-4340-A789-4A6B0434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D22A-64F3-4D4F-91F5-1E3D70B25D3C}" type="datetimeFigureOut">
              <a:rPr lang="en-FR" smtClean="0"/>
              <a:t>23/09/2026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6E3CB-D47B-FF48-99AD-9638995C4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7C6EA-06EB-EA4C-9DEB-08CEDC44C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BD4D3-4AB8-2F4A-9274-7EF561B8B59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307943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5DAA4-EE69-9A47-8DC1-F0C8AFDF1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D2028-60FE-2045-A4D5-20D4CC7A4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C5CF2-0446-4541-A174-772D0CD42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D22A-64F3-4D4F-91F5-1E3D70B25D3C}" type="datetimeFigureOut">
              <a:rPr lang="en-FR" smtClean="0"/>
              <a:t>23/09/2026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C0004-9E93-7444-93B2-CFD972BA0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D3C16-2B0F-C54D-8B33-21F44650B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BD4D3-4AB8-2F4A-9274-7EF561B8B59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79367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28C65-7315-6849-BB87-1A56CD5F0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25BDC-1476-E145-9D29-3D8AEB0DC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CAB079-FE8A-8A4C-A866-8732C8271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D6892-2964-0C4D-B015-22C030F80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D22A-64F3-4D4F-91F5-1E3D70B25D3C}" type="datetimeFigureOut">
              <a:rPr lang="en-FR" smtClean="0"/>
              <a:t>23/09/2026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590D7-A8DA-F34D-A2E2-47B1E73D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0B53D-6163-7743-82DC-FDA7B4B4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BD4D3-4AB8-2F4A-9274-7EF561B8B59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4578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AA410-6088-674C-89DE-E0DC3FC0D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B4C19-7FEA-B143-84C4-AFA74C5A3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0B898-E237-7242-B903-116ADF40D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3C4A3B-B2D7-CE40-80CF-4C08AC91B4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9CFEFC-D513-414D-B62D-0D23AE4AA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CFC7FC-E384-F248-BDB5-789341E52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D22A-64F3-4D4F-91F5-1E3D70B25D3C}" type="datetimeFigureOut">
              <a:rPr lang="en-FR" smtClean="0"/>
              <a:t>23/09/2026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5EAF3C-A99B-6E4E-9C09-4F033168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C70FF3-7F77-0041-825D-772CD2A01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BD4D3-4AB8-2F4A-9274-7EF561B8B59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156397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E35B6-66A6-8F47-B4CB-9EE495465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82D73-4E3A-AA43-A0D3-9A1738B17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D22A-64F3-4D4F-91F5-1E3D70B25D3C}" type="datetimeFigureOut">
              <a:rPr lang="en-FR" smtClean="0"/>
              <a:t>23/09/2026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1C124-0EFD-3445-9ED0-FE44C05D6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E8CF1-1F93-E545-BCF9-6834AC58C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BD4D3-4AB8-2F4A-9274-7EF561B8B59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6560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A1A9A-CA8B-D843-96CA-B3841F5AF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D22A-64F3-4D4F-91F5-1E3D70B25D3C}" type="datetimeFigureOut">
              <a:rPr lang="en-FR" smtClean="0"/>
              <a:t>23/09/2026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BE2347-BF14-F840-AD0C-0352EDB67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66442-6FB9-1F47-AF23-C62EC1E21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BD4D3-4AB8-2F4A-9274-7EF561B8B59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56194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FCC19-3F6E-F74C-AADA-FC5B3FF7B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969D1-B6B1-1F43-A0A1-746524B6E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C382CE-1930-EF4D-8968-F85515F52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6ED6E-5181-3C44-BF24-DED7C6321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D22A-64F3-4D4F-91F5-1E3D70B25D3C}" type="datetimeFigureOut">
              <a:rPr lang="en-FR" smtClean="0"/>
              <a:t>23/09/2026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5B56C-3923-4B41-B9F5-0204E7428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40D9C-B020-9A4C-A6E1-51BACF6B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BD4D3-4AB8-2F4A-9274-7EF561B8B59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8872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91ED4-E0D5-6C4A-B885-775A19B73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E13ADF-157E-BE41-A3B0-50D728372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1CEB3-8387-BF4A-937E-A3631A333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77109-7702-8F4C-86ED-E3CE155FD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D22A-64F3-4D4F-91F5-1E3D70B25D3C}" type="datetimeFigureOut">
              <a:rPr lang="en-FR" smtClean="0"/>
              <a:t>23/09/2026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381E9-87BA-444F-AF6D-35C9E814C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D9ED6-6C21-EB4F-9D3A-29AD4E01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BD4D3-4AB8-2F4A-9274-7EF561B8B59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75413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8563-138A-0541-991D-4C7759A2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251FFF-7151-0C43-BA7C-69D756B33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7828F-3C29-AE4E-A517-866AA68D4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D22A-64F3-4D4F-91F5-1E3D70B25D3C}" type="datetimeFigureOut">
              <a:rPr lang="en-FR" smtClean="0"/>
              <a:t>23/09/2026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E7CCB-7D2C-034F-A21A-578D43288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D002B-7432-874E-9F5C-02C3C23B0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BD4D3-4AB8-2F4A-9274-7EF561B8B59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77676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8A420B-96DA-DD48-9640-7180ECC1FB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9A1D74-6E05-1147-9757-021B63F0A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7CEE1-4018-EE4C-824E-64300A129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0D22A-64F3-4D4F-91F5-1E3D70B25D3C}" type="datetimeFigureOut">
              <a:rPr lang="en-FR" smtClean="0"/>
              <a:t>23/09/2026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48D39-ECAD-494F-B0F9-F6E633AF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E5CD3-2B4B-D74B-9688-288C9EAC8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BD4D3-4AB8-2F4A-9274-7EF561B8B59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78185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itre 11">
            <a:extLst>
              <a:ext uri="{FF2B5EF4-FFF2-40B4-BE49-F238E27FC236}">
                <a16:creationId xmlns:a16="http://schemas.microsoft.com/office/drawing/2014/main" id="{005196F8-77BA-5049-9686-93A8F6126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71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Titre Chapitre : Sous-Titre</a:t>
            </a:r>
          </a:p>
        </p:txBody>
      </p:sp>
      <p:sp>
        <p:nvSpPr>
          <p:cNvPr id="11" name="Espace réservé du texte 20">
            <a:extLst>
              <a:ext uri="{FF2B5EF4-FFF2-40B4-BE49-F238E27FC236}">
                <a16:creationId xmlns:a16="http://schemas.microsoft.com/office/drawing/2014/main" id="{716A7E31-610B-6D48-8515-1B5A5EC44C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84104" y="6345781"/>
            <a:ext cx="1401263" cy="387128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067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148D9A9-34C5-1447-A777-2A0097D3B4AB}" type="datetime1">
              <a:rPr lang="fr-FR" smtClean="0"/>
              <a:t>28/02/2019</a:t>
            </a:fld>
            <a:endParaRPr lang="fr-FR"/>
          </a:p>
        </p:txBody>
      </p:sp>
      <p:sp>
        <p:nvSpPr>
          <p:cNvPr id="16" name="Espace réservé du texte 20">
            <a:extLst>
              <a:ext uri="{FF2B5EF4-FFF2-40B4-BE49-F238E27FC236}">
                <a16:creationId xmlns:a16="http://schemas.microsoft.com/office/drawing/2014/main" id="{B01493B1-A38B-C34B-8A3E-69CD1A9CE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600295" y="6317869"/>
            <a:ext cx="1401263" cy="38712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067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CE857B3-8DFF-A94E-A1ED-CB7D1D8A6F7D}" type="slidenum">
              <a:rPr lang="fr-FR" sz="1067" b="1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‹N°›</a:t>
            </a:fld>
            <a:endParaRPr lang="fr-FR"/>
          </a:p>
        </p:txBody>
      </p:sp>
      <p:sp>
        <p:nvSpPr>
          <p:cNvPr id="26" name="Espace réservé du texte 20">
            <a:extLst>
              <a:ext uri="{FF2B5EF4-FFF2-40B4-BE49-F238E27FC236}">
                <a16:creationId xmlns:a16="http://schemas.microsoft.com/office/drawing/2014/main" id="{101E9269-86BF-6A45-B968-08CB907245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66013" y="6317869"/>
            <a:ext cx="6515649" cy="415040"/>
          </a:xfrm>
          <a:prstGeom prst="rect">
            <a:avLst/>
          </a:prstGeom>
        </p:spPr>
        <p:txBody>
          <a:bodyPr anchor="ctr"/>
          <a:lstStyle>
            <a:lvl1pPr marL="0" marR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67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1067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HEC PARIS EXECUTIVE EDUCATION – EXECED.HEC.EDU</a:t>
            </a:r>
          </a:p>
        </p:txBody>
      </p:sp>
      <p:sp>
        <p:nvSpPr>
          <p:cNvPr id="9" name="Espace réservé du texte 20">
            <a:extLst>
              <a:ext uri="{FF2B5EF4-FFF2-40B4-BE49-F238E27FC236}">
                <a16:creationId xmlns:a16="http://schemas.microsoft.com/office/drawing/2014/main" id="{3C0502FA-E02C-C84B-B83B-588551C600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4104" y="1336855"/>
            <a:ext cx="10063835" cy="4459033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Cliquez pour modifier les styles du texte du masque
Deuxième niveau
Troisième niveau
Quatrième niveau
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272254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48996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8C6981E-3FC5-2A87-282C-DDD91E18F3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3042" y="6656532"/>
            <a:ext cx="2085623" cy="1829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829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Vide">
  <p:cSld name="3_V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0" y="2"/>
            <a:ext cx="12192000" cy="71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1284104" y="6345781"/>
            <a:ext cx="1401263" cy="387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609585" marR="0" lvl="0" indent="-30479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EABAB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10600295" y="6317869"/>
            <a:ext cx="1401263" cy="387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609585" marR="0" lvl="0" indent="-304792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3"/>
          </p:nvPr>
        </p:nvSpPr>
        <p:spPr>
          <a:xfrm>
            <a:off x="3066013" y="6317869"/>
            <a:ext cx="6515649" cy="41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609585" marR="0" lvl="0" indent="-304792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EABAB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4"/>
          </p:nvPr>
        </p:nvSpPr>
        <p:spPr>
          <a:xfrm>
            <a:off x="1284104" y="1336855"/>
            <a:ext cx="10063835" cy="445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marR="0" lvl="0" indent="-38099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78568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_2">
  <p:cSld name="TITLE_AND_BODY_1_2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57178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31268489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800" y="523875"/>
            <a:ext cx="11328400" cy="74488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BM Presentation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11D280-0087-4025-85DC-7A4BA40396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31800" y="1628776"/>
            <a:ext cx="11328400" cy="4537075"/>
          </a:xfrm>
        </p:spPr>
        <p:txBody>
          <a:bodyPr/>
          <a:lstStyle>
            <a:lvl1pPr>
              <a:defRPr>
                <a:solidFill>
                  <a:srgbClr val="5F5F5F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 marL="359991" indent="-359991">
              <a:buClr>
                <a:srgbClr val="5F5F5F"/>
              </a:buClr>
              <a:buFont typeface="Wingdings" panose="05000000000000000000" pitchFamily="2" charset="2"/>
              <a:buChar char="§"/>
              <a:defRPr/>
            </a:lvl3pPr>
            <a:lvl4pPr marL="719982" indent="-359991">
              <a:buClr>
                <a:srgbClr val="5F5F5F"/>
              </a:buClr>
              <a:buFont typeface="Wingdings" panose="05000000000000000000" pitchFamily="2" charset="2"/>
              <a:buChar char="§"/>
              <a:defRPr/>
            </a:lvl4pPr>
            <a:lvl5pPr>
              <a:defRPr baseline="0"/>
            </a:lvl5pPr>
            <a:lvl7pPr>
              <a:buAutoNum type="arabicPeriod"/>
              <a:defRPr/>
            </a:lvl7pPr>
            <a:lvl8pPr>
              <a:buAutoNum type="alphaLcParenR"/>
              <a:defRPr/>
            </a:lvl8pPr>
            <a:lvl9pPr>
              <a:defRPr/>
            </a:lvl9pPr>
          </a:lstStyle>
          <a:p>
            <a:pPr lvl="0"/>
            <a:r>
              <a:rPr lang="en-US"/>
              <a:t>Body Text (Arial 20pt)</a:t>
            </a:r>
          </a:p>
          <a:p>
            <a:pPr lvl="1"/>
            <a:r>
              <a:rPr lang="en-US"/>
              <a:t>Heading 1 (Arial 24pt)</a:t>
            </a:r>
          </a:p>
          <a:p>
            <a:pPr lvl="2"/>
            <a:r>
              <a:rPr lang="en-US"/>
              <a:t>Bullet 1 (Arial 20pt)</a:t>
            </a:r>
          </a:p>
          <a:p>
            <a:pPr lvl="3"/>
            <a:r>
              <a:rPr lang="en-US"/>
              <a:t>Bullet 2 (Arial 20pt)</a:t>
            </a:r>
          </a:p>
          <a:p>
            <a:pPr lvl="4"/>
            <a:r>
              <a:rPr lang="en-US"/>
              <a:t>Bullet 3 (Arial 18pt)</a:t>
            </a:r>
          </a:p>
          <a:p>
            <a:pPr lvl="5"/>
            <a:r>
              <a:rPr lang="en-US"/>
              <a:t>Heading 2 (Arial 20pt)</a:t>
            </a:r>
          </a:p>
          <a:p>
            <a:pPr lvl="6"/>
            <a:r>
              <a:rPr lang="en-US"/>
              <a:t>Number Bullet (Arial 20pt)</a:t>
            </a:r>
          </a:p>
          <a:p>
            <a:pPr lvl="7"/>
            <a:r>
              <a:rPr lang="en-US"/>
              <a:t>Alpha Bullet 1 (Arial 20pt)</a:t>
            </a:r>
          </a:p>
          <a:p>
            <a:pPr lvl="8"/>
            <a:r>
              <a:rPr lang="en-US"/>
              <a:t>Alpha Bullet 2 (Arial 18pt)</a:t>
            </a:r>
            <a:endParaRPr lang="en-AU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31800" y="381001"/>
            <a:ext cx="11328400" cy="287337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Subheading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7059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37345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52B188-BFCE-5044-8103-C0CEB0D43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EF041-2860-144A-8163-FC1058359DD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581F088-F579-F84D-9D1C-812685DB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11277600" cy="127767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1" i="0">
                <a:latin typeface="Lora" panose="02000503000000020004" pitchFamily="2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7480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itre 11">
            <a:extLst>
              <a:ext uri="{FF2B5EF4-FFF2-40B4-BE49-F238E27FC236}">
                <a16:creationId xmlns:a16="http://schemas.microsoft.com/office/drawing/2014/main" id="{005196F8-77BA-5049-9686-93A8F6126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"/>
            <a:ext cx="12192000" cy="71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Titre Chapitre : Sous-Titre</a:t>
            </a:r>
          </a:p>
        </p:txBody>
      </p:sp>
      <p:sp>
        <p:nvSpPr>
          <p:cNvPr id="9" name="Espace réservé du texte 20">
            <a:extLst>
              <a:ext uri="{FF2B5EF4-FFF2-40B4-BE49-F238E27FC236}">
                <a16:creationId xmlns:a16="http://schemas.microsoft.com/office/drawing/2014/main" id="{3C0502FA-E02C-C84B-B83B-588551C600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4104" y="1336857"/>
            <a:ext cx="10063835" cy="4459033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pour modifier les styles du texte du masque
Deuxième niveau
Troisième niveau
Quatrième niveau
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7051519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3095300" y="2693517"/>
            <a:ext cx="5388000" cy="239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7565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tif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A0F43-B3B2-C64A-B6E1-BBC32FD7C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5B16F-4414-974E-AD30-E06418194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B17D0-601F-BB49-B63C-A1689743F0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0D22A-64F3-4D4F-91F5-1E3D70B25D3C}" type="datetimeFigureOut">
              <a:rPr lang="en-FR" smtClean="0"/>
              <a:t>23/09/2026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A8BD5-5D2E-8045-BC33-F7EE84AEDF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DB0BF-E677-EA48-AA37-811D8218E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BD4D3-4AB8-2F4A-9274-7EF561B8B591}" type="slidenum">
              <a:rPr lang="en-FR" smtClean="0"/>
              <a:t>‹#›</a:t>
            </a:fld>
            <a:endParaRPr lang="en-F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D24012-6460-2548-B4CF-4393381A3FD3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10852150" y="6106118"/>
            <a:ext cx="831850" cy="50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881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D852C-5567-056F-8F88-7C17CD869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D2C0E-C8CD-4331-2F24-982BFC3E5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739" y="1389872"/>
            <a:ext cx="10699380" cy="4908021"/>
          </a:xfrm>
        </p:spPr>
        <p:txBody>
          <a:bodyPr>
            <a:noAutofit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Session 3 — AI and Legal Tech (21/10/2026)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 of AI to legal and compliance 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Law firm and compliance market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Legal AI Business Strategy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work: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Legora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expansion to French market</a:t>
            </a:r>
          </a:p>
          <a:p>
            <a:pPr marL="457200" lvl="1" indent="0">
              <a:buNone/>
            </a:pPr>
            <a:endParaRPr lang="en-US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Session 4 — AI and the Legal Industry (22/10/2026)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Preparation time group work</a:t>
            </a:r>
          </a:p>
          <a:p>
            <a:pPr lvl="1"/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Legora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Guest Speaker: AI for the Legal Industry </a:t>
            </a:r>
            <a:endParaRPr lang="en-US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presentations</a:t>
            </a:r>
            <a:endParaRPr lang="en-US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6A482C-646D-2662-7AF7-EFA4B91E3C55}"/>
              </a:ext>
            </a:extLst>
          </p:cNvPr>
          <p:cNvSpPr txBox="1"/>
          <p:nvPr/>
        </p:nvSpPr>
        <p:spPr>
          <a:xfrm>
            <a:off x="2209800" y="191612"/>
            <a:ext cx="7772400" cy="81428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3C6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COURSE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STRUCTURE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C03B8B-8227-6154-E605-BCEDA42087C4}"/>
              </a:ext>
            </a:extLst>
          </p:cNvPr>
          <p:cNvCxnSpPr>
            <a:cxnSpLocks/>
          </p:cNvCxnSpPr>
          <p:nvPr/>
        </p:nvCxnSpPr>
        <p:spPr>
          <a:xfrm flipH="1">
            <a:off x="5950857" y="1107591"/>
            <a:ext cx="290287" cy="0"/>
          </a:xfrm>
          <a:prstGeom prst="line">
            <a:avLst/>
          </a:prstGeom>
          <a:ln w="76200">
            <a:solidFill>
              <a:srgbClr val="0030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3548D9-1DE5-5348-8D44-EEF6C65FF490}"/>
              </a:ext>
            </a:extLst>
          </p:cNvPr>
          <p:cNvCxnSpPr>
            <a:cxnSpLocks/>
          </p:cNvCxnSpPr>
          <p:nvPr/>
        </p:nvCxnSpPr>
        <p:spPr>
          <a:xfrm>
            <a:off x="0" y="1069491"/>
            <a:ext cx="12191999" cy="0"/>
          </a:xfrm>
          <a:prstGeom prst="line">
            <a:avLst/>
          </a:prstGeom>
          <a:ln>
            <a:solidFill>
              <a:srgbClr val="00305C">
                <a:alpha val="17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911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2A1BF-C8F0-62DA-955F-76D9B6637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631C86-FA5B-B42C-C551-A36846052AEA}"/>
              </a:ext>
            </a:extLst>
          </p:cNvPr>
          <p:cNvSpPr txBox="1"/>
          <p:nvPr/>
        </p:nvSpPr>
        <p:spPr>
          <a:xfrm>
            <a:off x="2209800" y="0"/>
            <a:ext cx="7772400" cy="81428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63C6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COURSE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GRADING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EA8D77-FE6E-2084-8889-A125DE7C17B1}"/>
              </a:ext>
            </a:extLst>
          </p:cNvPr>
          <p:cNvCxnSpPr>
            <a:cxnSpLocks/>
          </p:cNvCxnSpPr>
          <p:nvPr/>
        </p:nvCxnSpPr>
        <p:spPr>
          <a:xfrm flipH="1">
            <a:off x="5950857" y="1107591"/>
            <a:ext cx="290287" cy="0"/>
          </a:xfrm>
          <a:prstGeom prst="line">
            <a:avLst/>
          </a:prstGeom>
          <a:ln w="76200">
            <a:solidFill>
              <a:srgbClr val="0030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3A9304-4508-D538-3C7A-F7A3A9019744}"/>
              </a:ext>
            </a:extLst>
          </p:cNvPr>
          <p:cNvCxnSpPr>
            <a:cxnSpLocks/>
          </p:cNvCxnSpPr>
          <p:nvPr/>
        </p:nvCxnSpPr>
        <p:spPr>
          <a:xfrm>
            <a:off x="0" y="1069491"/>
            <a:ext cx="12191999" cy="0"/>
          </a:xfrm>
          <a:prstGeom prst="line">
            <a:avLst/>
          </a:prstGeom>
          <a:ln>
            <a:solidFill>
              <a:srgbClr val="00305C">
                <a:alpha val="17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9C943E4-B968-5430-9A32-D2E90891C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39874"/>
            <a:ext cx="11707905" cy="4860926"/>
          </a:xfrm>
        </p:spPr>
        <p:txBody>
          <a:bodyPr>
            <a:normAutofit lnSpcReduction="10000"/>
          </a:bodyPr>
          <a:lstStyle/>
          <a:p>
            <a:pPr marL="342900" lvl="0" indent="-342900">
              <a:spcAft>
                <a:spcPts val="600"/>
              </a:spcAft>
              <a:buFont typeface="Symbol" pitchFamily="2" charset="2"/>
              <a:buChar char=""/>
            </a:pPr>
            <a:r>
              <a:rPr lang="en-GB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GB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eliverable 1 (30%) – AI Compliance </a:t>
            </a:r>
            <a:r>
              <a:rPr lang="en-GB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Case Study (Individual)</a:t>
            </a:r>
            <a:endParaRPr lang="en-GB" b="1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00100" lvl="1" indent="-342900">
              <a:spcAft>
                <a:spcPts val="600"/>
              </a:spcAft>
              <a:buFont typeface="Symbol" pitchFamily="2" charset="2"/>
              <a:buChar char=""/>
            </a:pP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Data and AI Case study slide-deck (Max. 5 slides)</a:t>
            </a:r>
          </a:p>
          <a:p>
            <a:pPr marL="800100" lvl="1" indent="-342900">
              <a:spcAft>
                <a:spcPts val="600"/>
              </a:spcAft>
              <a:buFont typeface="Symbol" pitchFamily="2" charset="2"/>
              <a:buChar char=""/>
            </a:pPr>
            <a:r>
              <a:rPr lang="en-GB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Including Case Risk Matrix (e.g. </a:t>
            </a:r>
            <a:r>
              <a:rPr lang="en-GB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spidergram</a:t>
            </a:r>
            <a:r>
              <a:rPr lang="en-GB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of the case study </a:t>
            </a:r>
          </a:p>
          <a:p>
            <a:pPr marL="800100" lvl="1" indent="-342900">
              <a:spcAft>
                <a:spcPts val="600"/>
              </a:spcAft>
              <a:buFont typeface="Symbol" pitchFamily="2" charset="2"/>
              <a:buChar char=""/>
            </a:pPr>
            <a:r>
              <a:rPr lang="en-GB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Deadline: </a:t>
            </a: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End of s</a:t>
            </a:r>
            <a:r>
              <a:rPr lang="en-GB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ession 2 </a:t>
            </a:r>
            <a:endParaRPr lang="en-GB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600"/>
              </a:spcAft>
              <a:buFont typeface="Symbol" pitchFamily="2" charset="2"/>
              <a:buChar char=""/>
            </a:pPr>
            <a:endParaRPr lang="en-GB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Symbol" pitchFamily="2" charset="2"/>
              <a:buChar char=""/>
            </a:pPr>
            <a:r>
              <a:rPr lang="en-GB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Deliverable 2 (70%) – </a:t>
            </a:r>
            <a:r>
              <a:rPr lang="en-GB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LegalTech</a:t>
            </a:r>
            <a:r>
              <a:rPr lang="en-GB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GB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Market Strategy (</a:t>
            </a:r>
            <a:r>
              <a:rPr lang="en-GB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By groups of 5)</a:t>
            </a:r>
            <a:endParaRPr lang="en-GB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00100" lvl="1" indent="-342900">
              <a:spcAft>
                <a:spcPts val="600"/>
              </a:spcAft>
              <a:buFont typeface="Symbol" pitchFamily="2" charset="2"/>
              <a:buChar char=""/>
            </a:pPr>
            <a:r>
              <a:rPr lang="en-GB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Compliance Assessme</a:t>
            </a: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nt of case study – </a:t>
            </a:r>
            <a:r>
              <a:rPr lang="en-GB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Deadline</a:t>
            </a: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end of session 2</a:t>
            </a:r>
          </a:p>
          <a:p>
            <a:pPr marL="800100" lvl="1" indent="-342900">
              <a:spcAft>
                <a:spcPts val="600"/>
              </a:spcAft>
              <a:buFont typeface="Symbol" pitchFamily="2" charset="2"/>
              <a:buChar char=""/>
            </a:pP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Pitch Presentation  (5 minutes)</a:t>
            </a:r>
          </a:p>
          <a:p>
            <a:pPr marL="800100" lvl="1" indent="-342900">
              <a:spcAft>
                <a:spcPts val="600"/>
              </a:spcAft>
              <a:buFont typeface="Symbol" pitchFamily="2" charset="2"/>
              <a:buChar char=""/>
            </a:pP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Business Strategy per segment (12 slides max per group)</a:t>
            </a:r>
          </a:p>
          <a:p>
            <a:pPr marL="800100" lvl="1" indent="-342900">
              <a:spcAft>
                <a:spcPts val="600"/>
              </a:spcAft>
              <a:buFont typeface="Symbol" pitchFamily="2" charset="2"/>
              <a:buChar char=""/>
            </a:pPr>
            <a:r>
              <a:rPr lang="en-GB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Deadline: </a:t>
            </a: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End of s</a:t>
            </a:r>
            <a:r>
              <a:rPr lang="en-GB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ession 4 </a:t>
            </a:r>
            <a:endParaRPr lang="en-GB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800100" lvl="1" indent="-342900">
              <a:spcAft>
                <a:spcPts val="600"/>
              </a:spcAft>
              <a:buFont typeface="Symbol" pitchFamily="2" charset="2"/>
              <a:buChar char=""/>
            </a:pPr>
            <a:endParaRPr lang="en-GB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lvl="1" indent="0">
              <a:spcAft>
                <a:spcPts val="600"/>
              </a:spcAft>
              <a:buNone/>
            </a:pPr>
            <a:endParaRPr lang="en-GB" sz="2800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lvl="1" indent="0">
              <a:spcAft>
                <a:spcPts val="600"/>
              </a:spcAft>
              <a:buNone/>
            </a:pPr>
            <a:endParaRPr lang="en-GB" sz="28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lvl="1" indent="0">
              <a:spcAft>
                <a:spcPts val="600"/>
              </a:spcAft>
              <a:buNone/>
            </a:pPr>
            <a:endParaRPr lang="en-GB" sz="28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lvl="1" indent="0">
              <a:spcAft>
                <a:spcPts val="600"/>
              </a:spcAft>
              <a:buNone/>
            </a:pPr>
            <a:endParaRPr lang="en-GB" sz="28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253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DF0A7-F3C1-BD98-84BC-1DE0EC614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3355DF-D6B7-E52D-9B36-75F124EE7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FC04C3-D693-29B0-7DE2-A55928D2E3F1}"/>
              </a:ext>
            </a:extLst>
          </p:cNvPr>
          <p:cNvSpPr txBox="1"/>
          <p:nvPr/>
        </p:nvSpPr>
        <p:spPr>
          <a:xfrm>
            <a:off x="1114425" y="191612"/>
            <a:ext cx="9963150" cy="81428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IN-COURSE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EXERCISE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163C6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B8EAC9-ADBC-348B-6150-79010F16DE81}"/>
              </a:ext>
            </a:extLst>
          </p:cNvPr>
          <p:cNvCxnSpPr>
            <a:cxnSpLocks/>
          </p:cNvCxnSpPr>
          <p:nvPr/>
        </p:nvCxnSpPr>
        <p:spPr>
          <a:xfrm flipH="1">
            <a:off x="5950857" y="1136166"/>
            <a:ext cx="290287" cy="0"/>
          </a:xfrm>
          <a:prstGeom prst="line">
            <a:avLst/>
          </a:prstGeom>
          <a:ln w="76200">
            <a:solidFill>
              <a:srgbClr val="0030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1FAF4E3-E7D9-60A6-146C-F84FCCBBF31D}"/>
              </a:ext>
            </a:extLst>
          </p:cNvPr>
          <p:cNvCxnSpPr>
            <a:cxnSpLocks/>
          </p:cNvCxnSpPr>
          <p:nvPr/>
        </p:nvCxnSpPr>
        <p:spPr>
          <a:xfrm>
            <a:off x="0" y="1098066"/>
            <a:ext cx="12191999" cy="0"/>
          </a:xfrm>
          <a:prstGeom prst="line">
            <a:avLst/>
          </a:prstGeom>
          <a:ln>
            <a:solidFill>
              <a:srgbClr val="00305C">
                <a:alpha val="17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6F6F933-B0C3-BAA5-CAE6-6DFFB7E7B8C6}"/>
              </a:ext>
            </a:extLst>
          </p:cNvPr>
          <p:cNvCxnSpPr>
            <a:cxnSpLocks/>
          </p:cNvCxnSpPr>
          <p:nvPr/>
        </p:nvCxnSpPr>
        <p:spPr>
          <a:xfrm>
            <a:off x="895800" y="2308697"/>
            <a:ext cx="10292900" cy="0"/>
          </a:xfrm>
          <a:prstGeom prst="straightConnector1">
            <a:avLst/>
          </a:prstGeom>
          <a:ln w="28575">
            <a:solidFill>
              <a:srgbClr val="B997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B20CB89-8F88-E30D-0F7D-23EA316C4BC9}"/>
              </a:ext>
            </a:extLst>
          </p:cNvPr>
          <p:cNvSpPr txBox="1"/>
          <p:nvPr/>
        </p:nvSpPr>
        <p:spPr>
          <a:xfrm>
            <a:off x="769800" y="2621886"/>
            <a:ext cx="2160000" cy="492443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Identify a relevant use case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ADBE053-4FE6-080E-B930-5C531540A1A4}"/>
              </a:ext>
            </a:extLst>
          </p:cNvPr>
          <p:cNvGrpSpPr/>
          <p:nvPr/>
        </p:nvGrpSpPr>
        <p:grpSpPr>
          <a:xfrm>
            <a:off x="769800" y="2092697"/>
            <a:ext cx="432000" cy="2593603"/>
            <a:chOff x="769800" y="2092697"/>
            <a:chExt cx="432000" cy="2593603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B4FC9F1-808A-CFE2-CF91-56BC5BDE9FA4}"/>
                </a:ext>
              </a:extLst>
            </p:cNvPr>
            <p:cNvCxnSpPr>
              <a:cxnSpLocks/>
            </p:cNvCxnSpPr>
            <p:nvPr/>
          </p:nvCxnSpPr>
          <p:spPr>
            <a:xfrm>
              <a:off x="769800" y="2281930"/>
              <a:ext cx="0" cy="2404370"/>
            </a:xfrm>
            <a:prstGeom prst="line">
              <a:avLst/>
            </a:prstGeom>
            <a:ln>
              <a:solidFill>
                <a:srgbClr val="B9975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7664BCB-169B-9D61-AE67-706829D031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9800" y="2092697"/>
              <a:ext cx="432000" cy="432000"/>
            </a:xfrm>
            <a:prstGeom prst="ellipse">
              <a:avLst/>
            </a:prstGeom>
            <a:solidFill>
              <a:srgbClr val="0030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</a:t>
              </a:r>
              <a:endParaRPr kumimoji="0" lang="en-CH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3B06D38-1710-1442-CF2F-FC5CF4E9BA3A}"/>
              </a:ext>
            </a:extLst>
          </p:cNvPr>
          <p:cNvSpPr txBox="1"/>
          <p:nvPr/>
        </p:nvSpPr>
        <p:spPr>
          <a:xfrm>
            <a:off x="3456557" y="2648780"/>
            <a:ext cx="2531867" cy="738664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Prepare a slide deck with the presentation of the use case (5 slides max)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9D7880-3FC4-1509-23C3-64C9DA66DA90}"/>
              </a:ext>
            </a:extLst>
          </p:cNvPr>
          <p:cNvGrpSpPr/>
          <p:nvPr/>
        </p:nvGrpSpPr>
        <p:grpSpPr>
          <a:xfrm>
            <a:off x="3295192" y="2119591"/>
            <a:ext cx="432000" cy="2593603"/>
            <a:chOff x="2768463" y="2092697"/>
            <a:chExt cx="432000" cy="259360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DFC2AD4-90A9-2570-18C4-87BD361E6DCC}"/>
                </a:ext>
              </a:extLst>
            </p:cNvPr>
            <p:cNvCxnSpPr>
              <a:cxnSpLocks/>
            </p:cNvCxnSpPr>
            <p:nvPr/>
          </p:nvCxnSpPr>
          <p:spPr>
            <a:xfrm>
              <a:off x="2768463" y="2281930"/>
              <a:ext cx="0" cy="2404370"/>
            </a:xfrm>
            <a:prstGeom prst="line">
              <a:avLst/>
            </a:prstGeom>
            <a:ln>
              <a:solidFill>
                <a:srgbClr val="B9975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A578FE6-54B9-8BF1-8B52-34FA597587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68463" y="2092697"/>
              <a:ext cx="432000" cy="432000"/>
            </a:xfrm>
            <a:prstGeom prst="ellipse">
              <a:avLst/>
            </a:prstGeom>
            <a:solidFill>
              <a:srgbClr val="0030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</a:t>
              </a:r>
              <a:endParaRPr kumimoji="0" lang="en-CH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A46627B-5E9D-D48A-C7F3-EFC003B0A451}"/>
              </a:ext>
            </a:extLst>
          </p:cNvPr>
          <p:cNvSpPr txBox="1"/>
          <p:nvPr/>
        </p:nvSpPr>
        <p:spPr>
          <a:xfrm>
            <a:off x="6250889" y="2648781"/>
            <a:ext cx="2160000" cy="492443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Evaluate Data &amp; AI Compliance Risks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1C85F3E-3ACA-90A0-3783-BEADEC2B8517}"/>
              </a:ext>
            </a:extLst>
          </p:cNvPr>
          <p:cNvGrpSpPr/>
          <p:nvPr/>
        </p:nvGrpSpPr>
        <p:grpSpPr>
          <a:xfrm>
            <a:off x="6250889" y="2119592"/>
            <a:ext cx="432000" cy="2593603"/>
            <a:chOff x="4767126" y="2092697"/>
            <a:chExt cx="432000" cy="2593603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CE34D6B-9764-BBE3-4A56-E14C4D1CB9A3}"/>
                </a:ext>
              </a:extLst>
            </p:cNvPr>
            <p:cNvCxnSpPr>
              <a:cxnSpLocks/>
            </p:cNvCxnSpPr>
            <p:nvPr/>
          </p:nvCxnSpPr>
          <p:spPr>
            <a:xfrm>
              <a:off x="4767126" y="2281930"/>
              <a:ext cx="0" cy="2404370"/>
            </a:xfrm>
            <a:prstGeom prst="line">
              <a:avLst/>
            </a:prstGeom>
            <a:ln>
              <a:solidFill>
                <a:srgbClr val="B9975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F327F99-6342-F34C-7CD1-DE216F1852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67126" y="2092697"/>
              <a:ext cx="432000" cy="432000"/>
            </a:xfrm>
            <a:prstGeom prst="ellipse">
              <a:avLst/>
            </a:prstGeom>
            <a:solidFill>
              <a:srgbClr val="0030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3</a:t>
              </a:r>
              <a:endParaRPr kumimoji="0" lang="en-CH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31B899F-2DE1-0B07-96EA-3905B5F38C19}"/>
              </a:ext>
            </a:extLst>
          </p:cNvPr>
          <p:cNvSpPr/>
          <p:nvPr/>
        </p:nvSpPr>
        <p:spPr>
          <a:xfrm>
            <a:off x="913493" y="4310525"/>
            <a:ext cx="2059850" cy="324000"/>
          </a:xfrm>
          <a:prstGeom prst="roundRect">
            <a:avLst/>
          </a:prstGeom>
          <a:solidFill>
            <a:srgbClr val="0030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Phase 1</a:t>
            </a:r>
            <a:endParaRPr kumimoji="0" lang="en-CH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47AC8E5-ABFC-B526-A792-6B478C50FB46}"/>
              </a:ext>
            </a:extLst>
          </p:cNvPr>
          <p:cNvSpPr/>
          <p:nvPr/>
        </p:nvSpPr>
        <p:spPr>
          <a:xfrm>
            <a:off x="3606651" y="4283631"/>
            <a:ext cx="2059850" cy="324000"/>
          </a:xfrm>
          <a:prstGeom prst="roundRect">
            <a:avLst/>
          </a:prstGeom>
          <a:solidFill>
            <a:srgbClr val="0030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Phase 2</a:t>
            </a:r>
            <a:endParaRPr kumimoji="0" lang="en-CH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91BD1AB-6F0F-EB01-C6B5-FF1A71FB4D1E}"/>
              </a:ext>
            </a:extLst>
          </p:cNvPr>
          <p:cNvSpPr/>
          <p:nvPr/>
        </p:nvSpPr>
        <p:spPr>
          <a:xfrm>
            <a:off x="6426595" y="4287473"/>
            <a:ext cx="2059850" cy="324000"/>
          </a:xfrm>
          <a:prstGeom prst="roundRect">
            <a:avLst/>
          </a:prstGeom>
          <a:solidFill>
            <a:srgbClr val="0030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Phase 3</a:t>
            </a:r>
            <a:endParaRPr kumimoji="0" lang="en-CH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D4557-9EEE-A760-9C9D-58359B98F3B5}"/>
              </a:ext>
            </a:extLst>
          </p:cNvPr>
          <p:cNvSpPr txBox="1"/>
          <p:nvPr/>
        </p:nvSpPr>
        <p:spPr>
          <a:xfrm>
            <a:off x="8886513" y="2657747"/>
            <a:ext cx="2160000" cy="246221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Design Risk Matrix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19CD5CF-B391-5B19-0CD5-3101A245C2AD}"/>
              </a:ext>
            </a:extLst>
          </p:cNvPr>
          <p:cNvGrpSpPr/>
          <p:nvPr/>
        </p:nvGrpSpPr>
        <p:grpSpPr>
          <a:xfrm>
            <a:off x="8716184" y="2164416"/>
            <a:ext cx="432000" cy="2593603"/>
            <a:chOff x="4767126" y="2092697"/>
            <a:chExt cx="432000" cy="259360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5025835-8BB1-BA6A-E9FA-3158A4525289}"/>
                </a:ext>
              </a:extLst>
            </p:cNvPr>
            <p:cNvCxnSpPr>
              <a:cxnSpLocks/>
            </p:cNvCxnSpPr>
            <p:nvPr/>
          </p:nvCxnSpPr>
          <p:spPr>
            <a:xfrm>
              <a:off x="4767126" y="2281930"/>
              <a:ext cx="0" cy="2404370"/>
            </a:xfrm>
            <a:prstGeom prst="line">
              <a:avLst/>
            </a:prstGeom>
            <a:ln>
              <a:solidFill>
                <a:srgbClr val="B9975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733EDB2-B502-FFB1-9A06-C16195A068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67126" y="2092697"/>
              <a:ext cx="432000" cy="432000"/>
            </a:xfrm>
            <a:prstGeom prst="ellipse">
              <a:avLst/>
            </a:prstGeom>
            <a:solidFill>
              <a:srgbClr val="0030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4</a:t>
              </a:r>
              <a:endParaRPr kumimoji="0" lang="en-CH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3" name="Rectangle: Rounded Corners 34">
            <a:extLst>
              <a:ext uri="{FF2B5EF4-FFF2-40B4-BE49-F238E27FC236}">
                <a16:creationId xmlns:a16="http://schemas.microsoft.com/office/drawing/2014/main" id="{C6CFF04D-070F-EC76-0290-79A2C74B9780}"/>
              </a:ext>
            </a:extLst>
          </p:cNvPr>
          <p:cNvSpPr/>
          <p:nvPr/>
        </p:nvSpPr>
        <p:spPr>
          <a:xfrm>
            <a:off x="9004590" y="4277230"/>
            <a:ext cx="2059850" cy="324000"/>
          </a:xfrm>
          <a:prstGeom prst="roundRect">
            <a:avLst/>
          </a:prstGeom>
          <a:solidFill>
            <a:srgbClr val="0030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Phase 4</a:t>
            </a:r>
            <a:endParaRPr kumimoji="0" lang="en-CH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466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87F27-54F8-558F-75D8-310124F4C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9CA349B-D42B-D9CC-CA07-6928263E29E8}"/>
              </a:ext>
            </a:extLst>
          </p:cNvPr>
          <p:cNvCxnSpPr>
            <a:cxnSpLocks/>
          </p:cNvCxnSpPr>
          <p:nvPr/>
        </p:nvCxnSpPr>
        <p:spPr>
          <a:xfrm flipH="1">
            <a:off x="5950857" y="1136166"/>
            <a:ext cx="290287" cy="0"/>
          </a:xfrm>
          <a:prstGeom prst="line">
            <a:avLst/>
          </a:prstGeom>
          <a:ln w="76200">
            <a:solidFill>
              <a:srgbClr val="0030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9B6E59-A328-31CD-AC28-F479ABCA570F}"/>
              </a:ext>
            </a:extLst>
          </p:cNvPr>
          <p:cNvCxnSpPr>
            <a:cxnSpLocks/>
          </p:cNvCxnSpPr>
          <p:nvPr/>
        </p:nvCxnSpPr>
        <p:spPr>
          <a:xfrm>
            <a:off x="0" y="1098066"/>
            <a:ext cx="12191999" cy="0"/>
          </a:xfrm>
          <a:prstGeom prst="line">
            <a:avLst/>
          </a:prstGeom>
          <a:ln>
            <a:solidFill>
              <a:srgbClr val="00305C">
                <a:alpha val="17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CDFA41F-4B52-3F85-78C3-EF61D1455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F3190D-E978-80FC-438B-13346CEF4C81}"/>
              </a:ext>
            </a:extLst>
          </p:cNvPr>
          <p:cNvGrpSpPr/>
          <p:nvPr/>
        </p:nvGrpSpPr>
        <p:grpSpPr>
          <a:xfrm>
            <a:off x="990600" y="1923266"/>
            <a:ext cx="5334000" cy="2087136"/>
            <a:chOff x="733112" y="2569558"/>
            <a:chExt cx="4966200" cy="2087136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C470300-2D0F-57AD-C6A3-A9A844655C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0133" y="2569558"/>
              <a:ext cx="720000" cy="72000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5101ED8E-FB5A-5411-A143-2A4D3637EB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3112" y="3936694"/>
              <a:ext cx="720000" cy="720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91C5C63-AAB3-EB23-43CD-1DCEE3918082}"/>
                </a:ext>
              </a:extLst>
            </p:cNvPr>
            <p:cNvSpPr txBox="1"/>
            <p:nvPr/>
          </p:nvSpPr>
          <p:spPr>
            <a:xfrm>
              <a:off x="1799912" y="2703692"/>
              <a:ext cx="38994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Improve internal processes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18B45FA-F26D-D43C-6944-473C41896C0F}"/>
                </a:ext>
              </a:extLst>
            </p:cNvPr>
            <p:cNvSpPr txBox="1"/>
            <p:nvPr/>
          </p:nvSpPr>
          <p:spPr>
            <a:xfrm>
              <a:off x="1799912" y="4075292"/>
              <a:ext cx="3899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Improve market success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CD19D3A-142F-EDAE-FE57-A69C4813DE3A}"/>
              </a:ext>
            </a:extLst>
          </p:cNvPr>
          <p:cNvSpPr txBox="1"/>
          <p:nvPr/>
        </p:nvSpPr>
        <p:spPr>
          <a:xfrm>
            <a:off x="2133600" y="4800600"/>
            <a:ext cx="418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Strategic optionality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8E5C6B-4225-A3B8-60DC-CD44EC2B770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757" r="10423"/>
          <a:stretch/>
        </p:blipFill>
        <p:spPr>
          <a:xfrm>
            <a:off x="6564086" y="1127051"/>
            <a:ext cx="5166103" cy="57309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20E6E6-0C21-F283-3078-054237EB3E17}"/>
              </a:ext>
            </a:extLst>
          </p:cNvPr>
          <p:cNvSpPr txBox="1"/>
          <p:nvPr/>
        </p:nvSpPr>
        <p:spPr>
          <a:xfrm>
            <a:off x="1202093" y="149289"/>
            <a:ext cx="9789367" cy="81428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VALUE PROPOSITION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B9975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OF DATA AND AI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163C6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EC2806-8764-E3C9-53C4-D74EF18705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4572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955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8F41D-52C2-3798-38C5-78B84F3D4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94C6A442-957E-6D78-CD7B-A1A430748840}"/>
              </a:ext>
            </a:extLst>
          </p:cNvPr>
          <p:cNvSpPr txBox="1"/>
          <p:nvPr/>
        </p:nvSpPr>
        <p:spPr>
          <a:xfrm>
            <a:off x="4148777" y="280165"/>
            <a:ext cx="4937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30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INWARDS LOOKING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2F8083-A7CE-9246-5469-353A355DDC91}"/>
              </a:ext>
            </a:extLst>
          </p:cNvPr>
          <p:cNvGrpSpPr/>
          <p:nvPr/>
        </p:nvGrpSpPr>
        <p:grpSpPr>
          <a:xfrm>
            <a:off x="3719048" y="320594"/>
            <a:ext cx="7972211" cy="6183111"/>
            <a:chOff x="-1114650" y="640544"/>
            <a:chExt cx="6873242" cy="3903282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9E2AC04-7DB2-7B8C-FD6D-9FAA0AF7CB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114650" y="640544"/>
              <a:ext cx="579693" cy="39398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9227DBF-9665-B6E9-9A10-D77B602611BF}"/>
                </a:ext>
              </a:extLst>
            </p:cNvPr>
            <p:cNvSpPr txBox="1"/>
            <p:nvPr/>
          </p:nvSpPr>
          <p:spPr>
            <a:xfrm>
              <a:off x="576568" y="1299123"/>
              <a:ext cx="5182024" cy="32447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Increase internal process efficiency and productivity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à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Wingdings" panose="05000000000000000000" pitchFamily="2" charset="2"/>
                </a:rPr>
                <a:t>Faster and better execution of tasks by employees (text generation to coding) 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à"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à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Wingdings" panose="05000000000000000000" pitchFamily="2" charset="2"/>
                </a:rPr>
                <a:t>Creating insights, e.g., real-time data dashboards for management and decision-makers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à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Wingdings" panose="05000000000000000000" pitchFamily="2" charset="2"/>
                </a:rPr>
                <a:t>Automation, e.g., automatic filing of client book address based on emails, HR work-flows Spirit AeroSystems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à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Wingdings" panose="05000000000000000000" pitchFamily="2" charset="2"/>
                </a:rPr>
                <a:t>Classification, e.g., classification of information to redirect customer’s complaints to the right services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Wingdings" panose="05000000000000000000" pitchFamily="2" charset="2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à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Wingdings" panose="05000000000000000000" pitchFamily="2" charset="2"/>
                </a:rPr>
                <a:t>Prediction, e.g., predictive models to anticipate the need for maintenance, fraud detection </a:t>
              </a:r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67A3AB-4068-CC6F-9001-2D91758CA5CC}"/>
              </a:ext>
            </a:extLst>
          </p:cNvPr>
          <p:cNvCxnSpPr>
            <a:cxnSpLocks/>
          </p:cNvCxnSpPr>
          <p:nvPr/>
        </p:nvCxnSpPr>
        <p:spPr>
          <a:xfrm flipH="1">
            <a:off x="5950857" y="1136166"/>
            <a:ext cx="290287" cy="0"/>
          </a:xfrm>
          <a:prstGeom prst="line">
            <a:avLst/>
          </a:prstGeom>
          <a:ln w="76200">
            <a:solidFill>
              <a:srgbClr val="0030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D3952ED-ABB9-53D7-FD72-410153615B7B}"/>
              </a:ext>
            </a:extLst>
          </p:cNvPr>
          <p:cNvCxnSpPr>
            <a:cxnSpLocks/>
          </p:cNvCxnSpPr>
          <p:nvPr/>
        </p:nvCxnSpPr>
        <p:spPr>
          <a:xfrm>
            <a:off x="0" y="1098066"/>
            <a:ext cx="12191999" cy="0"/>
          </a:xfrm>
          <a:prstGeom prst="line">
            <a:avLst/>
          </a:prstGeom>
          <a:ln>
            <a:solidFill>
              <a:srgbClr val="00305C">
                <a:alpha val="17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E8C6A29-CD05-9E06-2AE6-ADC2B2E01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259" y="1425387"/>
            <a:ext cx="5335158" cy="481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4898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831</Words>
  <Application>Microsoft Macintosh PowerPoint</Application>
  <PresentationFormat>Widescreen</PresentationFormat>
  <Paragraphs>95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GT America</vt:lpstr>
      <vt:lpstr>Lora</vt:lpstr>
      <vt:lpstr>Symbol</vt:lpstr>
      <vt:lpstr>Tiempos Text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Restrepo Amariles</dc:creator>
  <cp:lastModifiedBy>David Restrepo Amariles</cp:lastModifiedBy>
  <cp:revision>1</cp:revision>
  <dcterms:created xsi:type="dcterms:W3CDTF">2026-09-23T04:43:45Z</dcterms:created>
  <dcterms:modified xsi:type="dcterms:W3CDTF">2026-09-23T04:44:33Z</dcterms:modified>
</cp:coreProperties>
</file>