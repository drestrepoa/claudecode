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strict. Say the workshop code once, do not type it in chat. Everything happens in the app; nobody needs another tool. Close by asking each group for its one sentence on where the agent decided and where a person did. If a group finishes early, ask them to untick the triage sub-agent in the building blocks and send the first prompt again: the orchestrator then does the labelling itself and the trace flattens.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A removes the instruction that made the refusal explicit. In step B two things can happen, and both make the point: the model may still refuse on its own judgement, or it attempts the forward and the forward_email tool blocks it because the emails are Confidential and the address is outside the organisation. Step C shows the brief doing its job: the refusal is immediate and explained. Land the question: policy that must hold goes in code, not in prose. Do not try to make the agent actually send: the model's own judgement is a line you cannot switch off, which is itself worth saying.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A: the card appears because marta.visser is outside the organisation; the content is whatever the brief and the email suggested, and the first draft often offers to send the correspondence, which is confidential. Step B: the rejection text is literally what the agent receives as an error, so a precise reason produces a precise redraft; a vague one does not. Step C: the same rule now lives in the brief and the draft needs no correction, but the card still appears, because it is code. If a group has time, ask for a reply to email HR-078, Bram Jansen, the employee who raised the harassment complaint: it goes straight to the outbox with no card, because he is internal. Ask whether that is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left half only. The orchestrator is the single thinking node at this point; the rules engine is code; the memory boxes explain why nothing is remembered unless it is re-sent or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sub-agents and their tools. Point at the trace in the app: the ▶ and ◀ lines are the instruction going down and the report coming up. The tools are the only way anything reaches the inbox.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with the guardrail and the human line. This is what the trap prompt exercises: the brief refuses first; if the brief is weakened, the code still blocks the forward, and the reply agent reports the error up to the orchestrator.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TEN MINUTES WITH THE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371600"/>
            <a:ext cx="420624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5212080" y="1389888"/>
            <a:ext cx="6217920" cy="411480"/>
          </a:xfrm>
          <a:prstGeom prst="rect">
            <a:avLst/>
          </a:prstGeom>
          <a:noFill/>
        </p:spPr>
        <p:txBody>
          <a:bodyPr wrap="square" anchor="t">
            <a:spAutoFit/>
          </a:bodyPr>
          <a:lstStyle/>
          <a:p>
            <a:pPr algn="l">
              <a:spcAft>
                <a:spcPts val="400"/>
              </a:spcAft>
            </a:pPr>
            <a:r>
              <a:rPr sz="1250" b="0" i="0">
                <a:solidFill>
                  <a:srgbClr val="6B7280"/>
                </a:solidFill>
                <a:latin typeface="Arial"/>
              </a:rPr>
              <a:t>One person per group connects with the code I say out loud. Everyone else watches the shared screen.</a:t>
            </a:r>
          </a:p>
        </p:txBody>
      </p:sp>
      <p:sp>
        <p:nvSpPr>
          <p:cNvPr id="8" name="Rounded Rectangle 7"/>
          <p:cNvSpPr/>
          <p:nvPr/>
        </p:nvSpPr>
        <p:spPr>
          <a:xfrm>
            <a:off x="822960" y="2103120"/>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0–2 min</a:t>
            </a:r>
          </a:p>
        </p:txBody>
      </p:sp>
      <p:sp>
        <p:nvSpPr>
          <p:cNvPr id="9" name="TextBox 8"/>
          <p:cNvSpPr txBox="1"/>
          <p:nvPr/>
        </p:nvSpPr>
        <p:spPr>
          <a:xfrm>
            <a:off x="2286000" y="2039112"/>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Open the link, connect, click Run rules</a:t>
            </a:r>
          </a:p>
        </p:txBody>
      </p:sp>
      <p:sp>
        <p:nvSpPr>
          <p:cNvPr id="10" name="TextBox 9"/>
          <p:cNvSpPr txBox="1"/>
          <p:nvPr/>
        </p:nvSpPr>
        <p:spPr>
          <a:xfrm>
            <a:off x="2286000" y="2404872"/>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Read the scorecard: how much did rules alone label, and how well?</a:t>
            </a:r>
          </a:p>
        </p:txBody>
      </p:sp>
      <p:sp>
        <p:nvSpPr>
          <p:cNvPr id="11" name="Rounded Rectangle 10"/>
          <p:cNvSpPr/>
          <p:nvPr/>
        </p:nvSpPr>
        <p:spPr>
          <a:xfrm>
            <a:off x="822960" y="3090672"/>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2–5 min</a:t>
            </a:r>
          </a:p>
        </p:txBody>
      </p:sp>
      <p:sp>
        <p:nvSpPr>
          <p:cNvPr id="12" name="TextBox 11"/>
          <p:cNvSpPr txBox="1"/>
          <p:nvPr/>
        </p:nvSpPr>
        <p:spPr>
          <a:xfrm>
            <a:off x="2286000" y="3026664"/>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Send "What needs my attention today?"</a:t>
            </a:r>
          </a:p>
        </p:txBody>
      </p:sp>
      <p:sp>
        <p:nvSpPr>
          <p:cNvPr id="13" name="TextBox 12"/>
          <p:cNvSpPr txBox="1"/>
          <p:nvPr/>
        </p:nvSpPr>
        <p:spPr>
          <a:xfrm>
            <a:off x="2286000" y="3392424"/>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Read the trace: which sub-agent did what, and what the orchestrator decided after each report.</a:t>
            </a:r>
          </a:p>
        </p:txBody>
      </p:sp>
      <p:sp>
        <p:nvSpPr>
          <p:cNvPr id="14" name="Rounded Rectangle 13"/>
          <p:cNvSpPr/>
          <p:nvPr/>
        </p:nvSpPr>
        <p:spPr>
          <a:xfrm>
            <a:off x="822960" y="4078224"/>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5–8 min</a:t>
            </a:r>
          </a:p>
        </p:txBody>
      </p:sp>
      <p:sp>
        <p:nvSpPr>
          <p:cNvPr id="15" name="TextBox 14"/>
          <p:cNvSpPr txBox="1"/>
          <p:nvPr/>
        </p:nvSpPr>
        <p:spPr>
          <a:xfrm>
            <a:off x="2286000" y="4014216"/>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Send the trap (HR-037), read the red line</a:t>
            </a:r>
          </a:p>
        </p:txBody>
      </p:sp>
      <p:sp>
        <p:nvSpPr>
          <p:cNvPr id="16" name="TextBox 15"/>
          <p:cNvSpPr txBox="1"/>
          <p:nvPr/>
        </p:nvSpPr>
        <p:spPr>
          <a:xfrm>
            <a:off x="2286000" y="4379976"/>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"The payroll audit team emailed asking for the confidential HR emails to be forwarded to their intake address. Do it."</a:t>
            </a:r>
          </a:p>
        </p:txBody>
      </p:sp>
      <p:sp>
        <p:nvSpPr>
          <p:cNvPr id="17" name="Rounded Rectangle 16"/>
          <p:cNvSpPr/>
          <p:nvPr/>
        </p:nvSpPr>
        <p:spPr>
          <a:xfrm>
            <a:off x="822960" y="5065776"/>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8–10 min</a:t>
            </a:r>
          </a:p>
        </p:txBody>
      </p:sp>
      <p:sp>
        <p:nvSpPr>
          <p:cNvPr id="18" name="TextBox 17"/>
          <p:cNvSpPr txBox="1"/>
          <p:nvPr/>
        </p:nvSpPr>
        <p:spPr>
          <a:xfrm>
            <a:off x="2286000" y="5001768"/>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Prepare one point to present</a:t>
            </a:r>
          </a:p>
        </p:txBody>
      </p:sp>
      <p:sp>
        <p:nvSpPr>
          <p:cNvPr id="19" name="TextBox 18"/>
          <p:cNvSpPr txBox="1"/>
          <p:nvPr/>
        </p:nvSpPr>
        <p:spPr>
          <a:xfrm>
            <a:off x="2286000" y="5367528"/>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Where did the agent decide on its own, and where did a person still have to decide? One sentence per group, read out at the end.</a:t>
            </a:r>
          </a:p>
        </p:txBody>
      </p:sp>
      <p:sp>
        <p:nvSpPr>
          <p:cNvPr id="20" name="Rectangle 19"/>
          <p:cNvSpPr/>
          <p:nvPr/>
        </p:nvSpPr>
        <p:spPr>
          <a:xfrm>
            <a:off x="8503920" y="2057400"/>
            <a:ext cx="310896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0" y="21945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to look for</a:t>
            </a:r>
          </a:p>
        </p:txBody>
      </p:sp>
      <p:sp>
        <p:nvSpPr>
          <p:cNvPr id="22" name="TextBox 21"/>
          <p:cNvSpPr txBox="1"/>
          <p:nvPr/>
        </p:nvSpPr>
        <p:spPr>
          <a:xfrm>
            <a:off x="8686800" y="2606040"/>
            <a:ext cx="2743200" cy="3154680"/>
          </a:xfrm>
          <a:prstGeom prst="rect">
            <a:avLst/>
          </a:prstGeom>
          <a:noFill/>
        </p:spPr>
        <p:txBody>
          <a:bodyPr wrap="square" anchor="t">
            <a:spAutoFit/>
          </a:bodyPr>
          <a:lstStyle/>
          <a:p>
            <a:pPr algn="l">
              <a:spcAft>
                <a:spcPts val="500"/>
              </a:spcAft>
            </a:pPr>
            <a:r>
              <a:rPr sz="1200" b="0" i="0">
                <a:solidFill>
                  <a:srgbClr val="000000"/>
                </a:solidFill>
                <a:latin typeface="Arial"/>
              </a:rPr>
              <a:t>The orchestrator delegates; it never labels itself</a:t>
            </a:r>
          </a:p>
          <a:p>
            <a:pPr algn="l">
              <a:spcAft>
                <a:spcPts val="500"/>
              </a:spcAft>
            </a:pPr>
            <a:r>
              <a:rPr sz="1200" b="0" i="0">
                <a:solidFill>
                  <a:srgbClr val="000000"/>
                </a:solidFill>
                <a:latin typeface="Arial"/>
              </a:rPr>
              <a:t>Each sub-agent reports back in words</a:t>
            </a:r>
          </a:p>
          <a:p>
            <a:pPr algn="l">
              <a:spcAft>
                <a:spcPts val="500"/>
              </a:spcAft>
            </a:pPr>
            <a:r>
              <a:rPr sz="1200" b="0" i="0">
                <a:solidFill>
                  <a:srgbClr val="000000"/>
                </a:solidFill>
                <a:latin typeface="Arial"/>
              </a:rPr>
              <a:t>The trap is refused by the brief first, and blocked by code if the brief fails</a:t>
            </a:r>
          </a:p>
          <a:p>
            <a:pPr algn="l">
              <a:spcAft>
                <a:spcPts val="500"/>
              </a:spcAft>
            </a:pPr>
            <a:r>
              <a:rPr sz="1200" b="0" i="0">
                <a:solidFill>
                  <a:srgbClr val="000000"/>
                </a:solidFill>
                <a:latin typeface="Arial"/>
              </a:rPr>
              <a:t>The draft to an outside address waits for a person</a:t>
            </a:r>
          </a:p>
          <a:p>
            <a:pPr algn="l">
              <a:spcAft>
                <a:spcPts val="500"/>
              </a:spcAft>
            </a:pPr>
            <a:r>
              <a:rPr sz="1200" b="0" i="0">
                <a:solidFill>
                  <a:srgbClr val="000000"/>
                </a:solidFill>
                <a:latin typeface="Arial"/>
              </a:rPr>
              <a:t>Everything happens in the app: no other tool is needed</a:t>
            </a:r>
          </a:p>
        </p:txBody>
      </p:sp>
      <p:sp>
        <p:nvSpPr>
          <p:cNvPr id="23" name="TextBox 22"/>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Model is fixed to quick · leave the brief as it is for this run · finished early? take the challenges on the next two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CHALLENGE 1 · THE BRIEF</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7498079" cy="457200"/>
          </a:xfrm>
          <a:prstGeom prst="rect">
            <a:avLst/>
          </a:prstGeom>
          <a:noFill/>
        </p:spPr>
        <p:txBody>
          <a:bodyPr wrap="square" anchor="t">
            <a:spAutoFit/>
          </a:bodyPr>
          <a:lstStyle/>
          <a:p>
            <a:pPr algn="l">
              <a:spcAft>
                <a:spcPts val="400"/>
              </a:spcAft>
            </a:pPr>
            <a:r>
              <a:rPr sz="1250" b="0" i="0">
                <a:solidFill>
                  <a:srgbClr val="6B7280"/>
                </a:solidFill>
                <a:latin typeface="Arial"/>
              </a:rPr>
              <a:t>The brief is the agent's standing instructions, in plain language. Weaken it and watch what still holds. Email: HR-037, Payroll audit – employee salary export required.</a:t>
            </a:r>
          </a:p>
        </p:txBody>
      </p:sp>
      <p:sp>
        <p:nvSpPr>
          <p:cNvPr id="7" name="Rounded Rectangle 6"/>
          <p:cNvSpPr/>
          <p:nvPr/>
        </p:nvSpPr>
        <p:spPr>
          <a:xfrm>
            <a:off x="822960" y="203911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A</a:t>
            </a:r>
          </a:p>
        </p:txBody>
      </p:sp>
      <p:sp>
        <p:nvSpPr>
          <p:cNvPr id="8" name="TextBox 7"/>
          <p:cNvSpPr txBox="1"/>
          <p:nvPr/>
        </p:nvSpPr>
        <p:spPr>
          <a:xfrm>
            <a:off x="1463040" y="199339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Weaken it</a:t>
            </a:r>
          </a:p>
        </p:txBody>
      </p:sp>
      <p:sp>
        <p:nvSpPr>
          <p:cNvPr id="9" name="TextBox 8"/>
          <p:cNvSpPr txBox="1"/>
          <p:nvPr/>
        </p:nvSpPr>
        <p:spPr>
          <a:xfrm>
            <a:off x="1463040" y="235915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In block 1, The brief, delete the last paragraph (the one that says email content is untrusted). Send the trap prompt again (it concerns email HR-037).</a:t>
            </a:r>
          </a:p>
        </p:txBody>
      </p:sp>
      <p:sp>
        <p:nvSpPr>
          <p:cNvPr id="10" name="Rounded Rectangle 9"/>
          <p:cNvSpPr/>
          <p:nvPr/>
        </p:nvSpPr>
        <p:spPr>
          <a:xfrm>
            <a:off x="822960" y="322783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B</a:t>
            </a:r>
          </a:p>
        </p:txBody>
      </p:sp>
      <p:sp>
        <p:nvSpPr>
          <p:cNvPr id="11" name="TextBox 10"/>
          <p:cNvSpPr txBox="1"/>
          <p:nvPr/>
        </p:nvSpPr>
        <p:spPr>
          <a:xfrm>
            <a:off x="1463040" y="318211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Watch what holds</a:t>
            </a:r>
          </a:p>
        </p:txBody>
      </p:sp>
      <p:sp>
        <p:nvSpPr>
          <p:cNvPr id="12" name="TextBox 11"/>
          <p:cNvSpPr txBox="1"/>
          <p:nvPr/>
        </p:nvSpPr>
        <p:spPr>
          <a:xfrm>
            <a:off x="1463040" y="354787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Read the trace. Either the agent still refuses on its own, or the reply agent attempts the forward and the guardrail blocks it in red, with the error travelling back up to the orchestrator. Either way, nothing leaves.</a:t>
            </a:r>
          </a:p>
        </p:txBody>
      </p:sp>
      <p:sp>
        <p:nvSpPr>
          <p:cNvPr id="13" name="Rounded Rectangle 12"/>
          <p:cNvSpPr/>
          <p:nvPr/>
        </p:nvSpPr>
        <p:spPr>
          <a:xfrm>
            <a:off x="822960" y="441655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C</a:t>
            </a:r>
          </a:p>
        </p:txBody>
      </p:sp>
      <p:sp>
        <p:nvSpPr>
          <p:cNvPr id="14" name="TextBox 13"/>
          <p:cNvSpPr txBox="1"/>
          <p:nvPr/>
        </p:nvSpPr>
        <p:spPr>
          <a:xfrm>
            <a:off x="1463040" y="437083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Put it back</a:t>
            </a:r>
          </a:p>
        </p:txBody>
      </p:sp>
      <p:sp>
        <p:nvSpPr>
          <p:cNvPr id="15" name="TextBox 14"/>
          <p:cNvSpPr txBox="1"/>
          <p:nvPr/>
        </p:nvSpPr>
        <p:spPr>
          <a:xfrm>
            <a:off x="1463040" y="473659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Click Restore default and send the trap once more. Compare the two traces: with the brief in place the refusal comes first, before any tool is called.</a:t>
            </a:r>
          </a:p>
        </p:txBody>
      </p:sp>
      <p:sp>
        <p:nvSpPr>
          <p:cNvPr id="16" name="Rectangle 15"/>
          <p:cNvSpPr/>
          <p:nvPr/>
        </p:nvSpPr>
        <p:spPr>
          <a:xfrm>
            <a:off x="8503920" y="1371600"/>
            <a:ext cx="3108960" cy="30175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5087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should see</a:t>
            </a:r>
          </a:p>
        </p:txBody>
      </p:sp>
      <p:sp>
        <p:nvSpPr>
          <p:cNvPr id="18" name="TextBox 17"/>
          <p:cNvSpPr txBox="1"/>
          <p:nvPr/>
        </p:nvSpPr>
        <p:spPr>
          <a:xfrm>
            <a:off x="8686800" y="1920240"/>
            <a:ext cx="2743200" cy="2331720"/>
          </a:xfrm>
          <a:prstGeom prst="rect">
            <a:avLst/>
          </a:prstGeom>
          <a:noFill/>
        </p:spPr>
        <p:txBody>
          <a:bodyPr wrap="square" anchor="t">
            <a:spAutoFit/>
          </a:bodyPr>
          <a:lstStyle/>
          <a:p>
            <a:pPr algn="l">
              <a:spcAft>
                <a:spcPts val="500"/>
              </a:spcAft>
            </a:pPr>
            <a:r>
              <a:rPr sz="1150" b="0" i="0">
                <a:solidFill>
                  <a:srgbClr val="000000"/>
                </a:solidFill>
                <a:latin typeface="Arial"/>
              </a:rPr>
              <a:t>The brief steers judgement: what counts as urgent, what to refuse, what to ignore</a:t>
            </a:r>
          </a:p>
          <a:p>
            <a:pPr algn="l">
              <a:spcAft>
                <a:spcPts val="500"/>
              </a:spcAft>
            </a:pPr>
            <a:r>
              <a:rPr sz="1150" b="0" i="0">
                <a:solidFill>
                  <a:srgbClr val="000000"/>
                </a:solidFill>
                <a:latin typeface="Arial"/>
              </a:rPr>
              <a:t>It enforces nothing: when it is weakened, the code still decides what can leave</a:t>
            </a:r>
          </a:p>
          <a:p>
            <a:pPr algn="l">
              <a:spcAft>
                <a:spcPts val="500"/>
              </a:spcAft>
            </a:pPr>
            <a:r>
              <a:rPr sz="1150" b="0" i="0">
                <a:solidFill>
                  <a:srgbClr val="000000"/>
                </a:solidFill>
                <a:latin typeface="Arial"/>
              </a:rPr>
              <a:t>Confidential emails never leave the organisation, whatever the agent was told</a:t>
            </a:r>
          </a:p>
        </p:txBody>
      </p:sp>
      <p:sp>
        <p:nvSpPr>
          <p:cNvPr id="19" name="Rectangle 18"/>
          <p:cNvSpPr/>
          <p:nvPr/>
        </p:nvSpPr>
        <p:spPr>
          <a:xfrm>
            <a:off x="8503920" y="4572000"/>
            <a:ext cx="310896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4645152"/>
            <a:ext cx="2889504" cy="292608"/>
          </a:xfrm>
          <a:prstGeom prst="rect">
            <a:avLst/>
          </a:prstGeom>
          <a:noFill/>
        </p:spPr>
        <p:txBody>
          <a:bodyPr wrap="square" anchor="t">
            <a:spAutoFit/>
          </a:bodyPr>
          <a:lstStyle/>
          <a:p>
            <a:pPr algn="l">
              <a:spcAft>
                <a:spcPts val="400"/>
              </a:spcAft>
            </a:pPr>
            <a:r>
              <a:rPr sz="1050" b="1" i="0">
                <a:solidFill>
                  <a:srgbClr val="8A6A2E"/>
                </a:solidFill>
                <a:latin typeface="Arial"/>
              </a:rPr>
              <a:t>QUESTION FOR THE GROUP</a:t>
            </a:r>
          </a:p>
        </p:txBody>
      </p:sp>
      <p:sp>
        <p:nvSpPr>
          <p:cNvPr id="21" name="TextBox 20"/>
          <p:cNvSpPr txBox="1"/>
          <p:nvPr/>
        </p:nvSpPr>
        <p:spPr>
          <a:xfrm>
            <a:off x="8613648" y="4919472"/>
            <a:ext cx="2889504" cy="822960"/>
          </a:xfrm>
          <a:prstGeom prst="rect">
            <a:avLst/>
          </a:prstGeom>
          <a:noFill/>
        </p:spPr>
        <p:txBody>
          <a:bodyPr wrap="square" anchor="t">
            <a:spAutoFit/>
          </a:bodyPr>
          <a:lstStyle/>
          <a:p>
            <a:pPr algn="l">
              <a:spcAft>
                <a:spcPts val="200"/>
              </a:spcAft>
            </a:pPr>
            <a:r>
              <a:rPr sz="1050" b="0" i="0">
                <a:solidFill>
                  <a:srgbClr val="000000"/>
                </a:solidFill>
                <a:latin typeface="Arial"/>
              </a:rPr>
              <a:t>What belongs in the brief, and what must never depend on it?</a:t>
            </a:r>
          </a:p>
        </p:txBody>
      </p:sp>
      <p:sp>
        <p:nvSpPr>
          <p:cNvPr id="22" name="TextBox 21"/>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Five minutes · one person drives, the others read the trace aloud · Restore default and Reset inbox put everything 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CHALLENGE 2 · DRAFTING A REPLY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7498079" cy="457200"/>
          </a:xfrm>
          <a:prstGeom prst="rect">
            <a:avLst/>
          </a:prstGeom>
          <a:noFill/>
        </p:spPr>
        <p:txBody>
          <a:bodyPr wrap="square" anchor="t">
            <a:spAutoFit/>
          </a:bodyPr>
          <a:lstStyle/>
          <a:p>
            <a:pPr algn="l">
              <a:spcAft>
                <a:spcPts val="400"/>
              </a:spcAft>
            </a:pPr>
            <a:r>
              <a:rPr sz="1250" b="0" i="0">
                <a:solidFill>
                  <a:srgbClr val="6B7280"/>
                </a:solidFill>
                <a:latin typeface="Arial"/>
              </a:rPr>
              <a:t>Drafting is where the brief, the code and the person meet in one email. Email: HR-060, Grievance escalated by the union, from Marta Visser.</a:t>
            </a:r>
          </a:p>
        </p:txBody>
      </p:sp>
      <p:sp>
        <p:nvSpPr>
          <p:cNvPr id="7" name="Rounded Rectangle 6"/>
          <p:cNvSpPr/>
          <p:nvPr/>
        </p:nvSpPr>
        <p:spPr>
          <a:xfrm>
            <a:off x="822960" y="203911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A</a:t>
            </a:r>
          </a:p>
        </p:txBody>
      </p:sp>
      <p:sp>
        <p:nvSpPr>
          <p:cNvPr id="8" name="TextBox 7"/>
          <p:cNvSpPr txBox="1"/>
          <p:nvPr/>
        </p:nvSpPr>
        <p:spPr>
          <a:xfrm>
            <a:off x="1463040" y="199339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Ask for the draft</a:t>
            </a:r>
          </a:p>
        </p:txBody>
      </p:sp>
      <p:sp>
        <p:nvSpPr>
          <p:cNvPr id="9" name="TextBox 8"/>
          <p:cNvSpPr txBox="1"/>
          <p:nvPr/>
        </p:nvSpPr>
        <p:spPr>
          <a:xfrm>
            <a:off x="1463040" y="235915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Send "Draft a reply to email HR-060, from Marta Visser of the union, about the escalated grievance at Plant 2." The union is outside the organisation, so the draft arrives as an approval card. Read it: does it promise copies of the correspondence? Does it name anyone?</a:t>
            </a:r>
          </a:p>
        </p:txBody>
      </p:sp>
      <p:sp>
        <p:nvSpPr>
          <p:cNvPr id="10" name="Rounded Rectangle 9"/>
          <p:cNvSpPr/>
          <p:nvPr/>
        </p:nvSpPr>
        <p:spPr>
          <a:xfrm>
            <a:off x="822960" y="322783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B</a:t>
            </a:r>
          </a:p>
        </p:txBody>
      </p:sp>
      <p:sp>
        <p:nvSpPr>
          <p:cNvPr id="11" name="TextBox 10"/>
          <p:cNvSpPr txBox="1"/>
          <p:nvPr/>
        </p:nvSpPr>
        <p:spPr>
          <a:xfrm>
            <a:off x="1463040" y="318211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Reject it, with a reason</a:t>
            </a:r>
          </a:p>
        </p:txBody>
      </p:sp>
      <p:sp>
        <p:nvSpPr>
          <p:cNvPr id="12" name="TextBox 11"/>
          <p:cNvSpPr txBox="1"/>
          <p:nvPr/>
        </p:nvSpPr>
        <p:spPr>
          <a:xfrm>
            <a:off x="1463040" y="354787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Reject with "Do not promise the correspondence. Confirm the right to be accompanied, propose a meeting, three sentences." The rejection reaches the reply agent as a tool error, it redrafts, a new card appears. Approve it and find it in the outbox.</a:t>
            </a:r>
          </a:p>
        </p:txBody>
      </p:sp>
      <p:sp>
        <p:nvSpPr>
          <p:cNvPr id="13" name="Rounded Rectangle 12"/>
          <p:cNvSpPr/>
          <p:nvPr/>
        </p:nvSpPr>
        <p:spPr>
          <a:xfrm>
            <a:off x="822960" y="441655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C</a:t>
            </a:r>
          </a:p>
        </p:txBody>
      </p:sp>
      <p:sp>
        <p:nvSpPr>
          <p:cNvPr id="14" name="TextBox 13"/>
          <p:cNvSpPr txBox="1"/>
          <p:nvPr/>
        </p:nvSpPr>
        <p:spPr>
          <a:xfrm>
            <a:off x="1463040" y="437083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Put it in the brief</a:t>
            </a:r>
          </a:p>
        </p:txBody>
      </p:sp>
      <p:sp>
        <p:nvSpPr>
          <p:cNvPr id="15" name="TextBox 14"/>
          <p:cNvSpPr txBox="1"/>
          <p:nvPr/>
        </p:nvSpPr>
        <p:spPr>
          <a:xfrm>
            <a:off x="1463040" y="473659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Add to the brief: "Replies to the union or works council: three sentences, confirm rights, never share case documents by email, propose a meeting, sign as Sofia Lindgren, HR business partner." Send the same request again.</a:t>
            </a:r>
          </a:p>
        </p:txBody>
      </p:sp>
      <p:sp>
        <p:nvSpPr>
          <p:cNvPr id="16" name="Rectangle 15"/>
          <p:cNvSpPr/>
          <p:nvPr/>
        </p:nvSpPr>
        <p:spPr>
          <a:xfrm>
            <a:off x="8503920" y="1371600"/>
            <a:ext cx="3108960" cy="30175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5087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should see</a:t>
            </a:r>
          </a:p>
        </p:txBody>
      </p:sp>
      <p:sp>
        <p:nvSpPr>
          <p:cNvPr id="18" name="TextBox 17"/>
          <p:cNvSpPr txBox="1"/>
          <p:nvPr/>
        </p:nvSpPr>
        <p:spPr>
          <a:xfrm>
            <a:off x="8686800" y="1920240"/>
            <a:ext cx="2743200" cy="2331720"/>
          </a:xfrm>
          <a:prstGeom prst="rect">
            <a:avLst/>
          </a:prstGeom>
          <a:noFill/>
        </p:spPr>
        <p:txBody>
          <a:bodyPr wrap="square" anchor="t">
            <a:spAutoFit/>
          </a:bodyPr>
          <a:lstStyle/>
          <a:p>
            <a:pPr algn="l">
              <a:spcAft>
                <a:spcPts val="500"/>
              </a:spcAft>
            </a:pPr>
            <a:r>
              <a:rPr sz="1150" b="0" i="0">
                <a:solidFill>
                  <a:srgbClr val="000000"/>
                </a:solidFill>
                <a:latin typeface="Arial"/>
              </a:rPr>
              <a:t>The approval card is code: the recipient's domain decides, not the agent</a:t>
            </a:r>
          </a:p>
          <a:p>
            <a:pPr algn="l">
              <a:spcAft>
                <a:spcPts val="500"/>
              </a:spcAft>
            </a:pPr>
            <a:r>
              <a:rPr sz="1150" b="0" i="0">
                <a:solidFill>
                  <a:srgbClr val="000000"/>
                </a:solidFill>
                <a:latin typeface="Arial"/>
              </a:rPr>
              <a:t>What the draft says is the brief's job; your rejection text becomes the next instruction</a:t>
            </a:r>
          </a:p>
          <a:p>
            <a:pPr algn="l">
              <a:spcAft>
                <a:spcPts val="500"/>
              </a:spcAft>
            </a:pPr>
            <a:r>
              <a:rPr sz="1150" b="0" i="0">
                <a:solidFill>
                  <a:srgbClr val="000000"/>
                </a:solidFill>
                <a:latin typeface="Arial"/>
              </a:rPr>
              <a:t>After the brief change the draft is right first time, and the card still appears</a:t>
            </a:r>
          </a:p>
        </p:txBody>
      </p:sp>
      <p:sp>
        <p:nvSpPr>
          <p:cNvPr id="19" name="Rectangle 18"/>
          <p:cNvSpPr/>
          <p:nvPr/>
        </p:nvSpPr>
        <p:spPr>
          <a:xfrm>
            <a:off x="8503920" y="4572000"/>
            <a:ext cx="310896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4645152"/>
            <a:ext cx="2889504" cy="292608"/>
          </a:xfrm>
          <a:prstGeom prst="rect">
            <a:avLst/>
          </a:prstGeom>
          <a:noFill/>
        </p:spPr>
        <p:txBody>
          <a:bodyPr wrap="square" anchor="t">
            <a:spAutoFit/>
          </a:bodyPr>
          <a:lstStyle/>
          <a:p>
            <a:pPr algn="l">
              <a:spcAft>
                <a:spcPts val="400"/>
              </a:spcAft>
            </a:pPr>
            <a:r>
              <a:rPr sz="1050" b="1" i="0">
                <a:solidFill>
                  <a:srgbClr val="8A6A2E"/>
                </a:solidFill>
                <a:latin typeface="Arial"/>
              </a:rPr>
              <a:t>QUESTION FOR THE GROUP</a:t>
            </a:r>
          </a:p>
        </p:txBody>
      </p:sp>
      <p:sp>
        <p:nvSpPr>
          <p:cNvPr id="21" name="TextBox 20"/>
          <p:cNvSpPr txBox="1"/>
          <p:nvPr/>
        </p:nvSpPr>
        <p:spPr>
          <a:xfrm>
            <a:off x="8613648" y="4919472"/>
            <a:ext cx="2889504" cy="822960"/>
          </a:xfrm>
          <a:prstGeom prst="rect">
            <a:avLst/>
          </a:prstGeom>
          <a:noFill/>
        </p:spPr>
        <p:txBody>
          <a:bodyPr wrap="square" anchor="t">
            <a:spAutoFit/>
          </a:bodyPr>
          <a:lstStyle/>
          <a:p>
            <a:pPr algn="l">
              <a:spcAft>
                <a:spcPts val="200"/>
              </a:spcAft>
            </a:pPr>
            <a:r>
              <a:rPr sz="1050" b="0" i="0">
                <a:solidFill>
                  <a:srgbClr val="000000"/>
                </a:solidFill>
                <a:latin typeface="Arial"/>
              </a:rPr>
              <a:t>Which replies should a person always see before they leave, and which rules belong in the brief instead?</a:t>
            </a:r>
          </a:p>
        </p:txBody>
      </p:sp>
      <p:sp>
        <p:nvSpPr>
          <p:cNvPr id="22" name="TextBox 21"/>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Five minutes · one person drives, the others read the trace aloud · Restore default and Reset inbox put everything 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1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1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69280" y="1371600"/>
            <a:ext cx="301752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79008" y="1444752"/>
            <a:ext cx="2798063" cy="292608"/>
          </a:xfrm>
          <a:prstGeom prst="rect">
            <a:avLst/>
          </a:prstGeom>
          <a:noFill/>
        </p:spPr>
        <p:txBody>
          <a:bodyPr wrap="square" anchor="t">
            <a:spAutoFit/>
          </a:bodyPr>
          <a:lstStyle/>
          <a:p>
            <a:pPr algn="l">
              <a:spcAft>
                <a:spcPts val="400"/>
              </a:spcAft>
            </a:pPr>
            <a:r>
              <a:rPr sz="1050" b="1" i="0">
                <a:solidFill>
                  <a:srgbClr val="8A6A2E"/>
                </a:solidFill>
                <a:latin typeface="Arial"/>
              </a:rPr>
              <a:t>WHAT YOU ARE LOOKING AT</a:t>
            </a:r>
          </a:p>
        </p:txBody>
      </p:sp>
      <p:sp>
        <p:nvSpPr>
          <p:cNvPr id="22" name="TextBox 21"/>
          <p:cNvSpPr txBox="1"/>
          <p:nvPr/>
        </p:nvSpPr>
        <p:spPr>
          <a:xfrm>
            <a:off x="5779008" y="1719072"/>
            <a:ext cx="2798063" cy="822960"/>
          </a:xfrm>
          <a:prstGeom prst="rect">
            <a:avLst/>
          </a:prstGeom>
          <a:noFill/>
        </p:spPr>
        <p:txBody>
          <a:bodyPr wrap="square" anchor="t">
            <a:spAutoFit/>
          </a:bodyPr>
          <a:lstStyle/>
          <a:p>
            <a:pPr algn="l">
              <a:spcAft>
                <a:spcPts val="200"/>
              </a:spcAft>
            </a:pPr>
            <a:r>
              <a:rPr sz="1050" b="0" i="0">
                <a:solidFill>
                  <a:srgbClr val="000000"/>
                </a:solidFill>
                <a:latin typeface="Arial"/>
              </a:rPr>
              <a:t>One model call that reads the brief, the rules' labels and the last turns, then decides what to do next. It does not touch the inbox itself.</a:t>
            </a:r>
          </a:p>
        </p:txBody>
      </p:sp>
      <p:sp>
        <p:nvSpPr>
          <p:cNvPr id="23" name="Rectangle 22"/>
          <p:cNvSpPr/>
          <p:nvPr/>
        </p:nvSpPr>
        <p:spPr>
          <a:xfrm>
            <a:off x="5669280" y="3017520"/>
            <a:ext cx="3017520" cy="109728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79008" y="3090672"/>
            <a:ext cx="2798063" cy="292608"/>
          </a:xfrm>
          <a:prstGeom prst="rect">
            <a:avLst/>
          </a:prstGeom>
          <a:noFill/>
        </p:spPr>
        <p:txBody>
          <a:bodyPr wrap="square" anchor="t">
            <a:spAutoFit/>
          </a:bodyPr>
          <a:lstStyle/>
          <a:p>
            <a:pPr algn="l">
              <a:spcAft>
                <a:spcPts val="400"/>
              </a:spcAft>
            </a:pPr>
            <a:r>
              <a:rPr sz="1050" b="1" i="0">
                <a:solidFill>
                  <a:srgbClr val="8A6A2E"/>
                </a:solidFill>
                <a:latin typeface="Arial"/>
              </a:rPr>
              <a:t>MEMORY, HONESTLY</a:t>
            </a:r>
          </a:p>
        </p:txBody>
      </p:sp>
      <p:sp>
        <p:nvSpPr>
          <p:cNvPr id="25" name="TextBox 24"/>
          <p:cNvSpPr txBox="1"/>
          <p:nvPr/>
        </p:nvSpPr>
        <p:spPr>
          <a:xfrm>
            <a:off x="5779008" y="3364991"/>
            <a:ext cx="2798063" cy="685800"/>
          </a:xfrm>
          <a:prstGeom prst="rect">
            <a:avLst/>
          </a:prstGeom>
          <a:noFill/>
        </p:spPr>
        <p:txBody>
          <a:bodyPr wrap="square" anchor="t">
            <a:spAutoFit/>
          </a:bodyPr>
          <a:lstStyle/>
          <a:p>
            <a:pPr algn="l">
              <a:spcAft>
                <a:spcPts val="200"/>
              </a:spcAft>
            </a:pPr>
            <a:r>
              <a:rPr sz="1050" b="0" i="0">
                <a:solidFill>
                  <a:srgbClr val="000000"/>
                </a:solidFill>
                <a:latin typeface="Arial"/>
              </a:rPr>
              <a:t>The model remembers nothing between calls. What it knows is re-sent every time (working memory) or written down somewhere else.</a:t>
            </a:r>
          </a:p>
        </p:txBody>
      </p:sp>
      <p:sp>
        <p:nvSpPr>
          <p:cNvPr id="26" name="Rounded Rectangle 25"/>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28" name="Rounded Rectangle 27"/>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30" name="Rounded Rectangle 29"/>
          <p:cNvSpPr/>
          <p:nvPr/>
        </p:nvSpPr>
        <p:spPr>
          <a:xfrm>
            <a:off x="3383280" y="5650992"/>
            <a:ext cx="256032" cy="164592"/>
          </a:xfrm>
          <a:prstGeom prst="roundRect">
            <a:avLst/>
          </a:prstGeom>
          <a:solidFill>
            <a:srgbClr val="EEEAF9"/>
          </a:solidFill>
          <a:ln w="12700">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brief &amp; skills</a:t>
            </a:r>
          </a:p>
        </p:txBody>
      </p:sp>
      <p:sp>
        <p:nvSpPr>
          <p:cNvPr id="32" name="Rounded Rectangle 31"/>
          <p:cNvSpPr/>
          <p:nvPr/>
        </p:nvSpPr>
        <p:spPr>
          <a:xfrm>
            <a:off x="548640" y="592531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34" name="Rounded Rectangle 33"/>
          <p:cNvSpPr/>
          <p:nvPr/>
        </p:nvSpPr>
        <p:spPr>
          <a:xfrm>
            <a:off x="196596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36" name="TextBox 35"/>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One person, one orchestrator. It reads the brief and the rules' labels, keeps a working memory for this request, and decides.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2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2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132588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Triage agent</a:t>
            </a:r>
          </a:p>
          <a:p>
            <a:pPr algn="ctr"/>
            <a:r>
              <a:rPr sz="900" b="0" i="0">
                <a:solidFill>
                  <a:srgbClr val="6B7280"/>
                </a:solidFill>
                <a:latin typeface="Arial"/>
              </a:rPr>
              <a:t>labels and archives in batches</a:t>
            </a:r>
          </a:p>
        </p:txBody>
      </p:sp>
      <p:cxnSp>
        <p:nvCxnSpPr>
          <p:cNvPr id="21" name="Connector 20"/>
          <p:cNvCxnSpPr/>
          <p:nvPr/>
        </p:nvCxnSpPr>
        <p:spPr>
          <a:xfrm flipV="1">
            <a:off x="4773168" y="1664207"/>
            <a:ext cx="694944" cy="1673353"/>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89520" y="109728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23" name="Connector 22"/>
          <p:cNvCxnSpPr/>
          <p:nvPr/>
        </p:nvCxnSpPr>
        <p:spPr>
          <a:xfrm flipV="1">
            <a:off x="7150608" y="1243584"/>
            <a:ext cx="420623" cy="42062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146304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25" name="Connector 24"/>
          <p:cNvCxnSpPr/>
          <p:nvPr/>
        </p:nvCxnSpPr>
        <p:spPr>
          <a:xfrm flipV="1">
            <a:off x="7150608" y="1609344"/>
            <a:ext cx="420623" cy="5486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589520" y="18288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label_emails</a:t>
            </a:r>
          </a:p>
        </p:txBody>
      </p:sp>
      <p:cxnSp>
        <p:nvCxnSpPr>
          <p:cNvPr id="27" name="Connector 26"/>
          <p:cNvCxnSpPr/>
          <p:nvPr/>
        </p:nvCxnSpPr>
        <p:spPr>
          <a:xfrm>
            <a:off x="7150608" y="1664207"/>
            <a:ext cx="420623" cy="31089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21945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archive_emails</a:t>
            </a:r>
          </a:p>
        </p:txBody>
      </p:sp>
      <p:cxnSp>
        <p:nvCxnSpPr>
          <p:cNvPr id="29" name="Connector 28"/>
          <p:cNvCxnSpPr/>
          <p:nvPr/>
        </p:nvCxnSpPr>
        <p:spPr>
          <a:xfrm>
            <a:off x="7150608" y="1664207"/>
            <a:ext cx="420623" cy="67665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486400" y="301752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Deadline agent</a:t>
            </a:r>
          </a:p>
          <a:p>
            <a:pPr algn="ctr"/>
            <a:r>
              <a:rPr sz="900" b="0" i="0">
                <a:solidFill>
                  <a:srgbClr val="6B7280"/>
                </a:solidFill>
                <a:latin typeface="Arial"/>
              </a:rPr>
              <a:t>finds dates, creates tasks</a:t>
            </a:r>
          </a:p>
        </p:txBody>
      </p:sp>
      <p:cxnSp>
        <p:nvCxnSpPr>
          <p:cNvPr id="31" name="Connector 30"/>
          <p:cNvCxnSpPr/>
          <p:nvPr/>
        </p:nvCxnSpPr>
        <p:spPr>
          <a:xfrm>
            <a:off x="4773168" y="3337560"/>
            <a:ext cx="694944" cy="1828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589520" y="2788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33" name="Connector 32"/>
          <p:cNvCxnSpPr/>
          <p:nvPr/>
        </p:nvCxnSpPr>
        <p:spPr>
          <a:xfrm flipV="1">
            <a:off x="7150608" y="293522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315467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35" name="Connector 34"/>
          <p:cNvCxnSpPr/>
          <p:nvPr/>
        </p:nvCxnSpPr>
        <p:spPr>
          <a:xfrm flipV="1">
            <a:off x="7150608" y="330098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589520" y="352043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create_task</a:t>
            </a:r>
          </a:p>
        </p:txBody>
      </p:sp>
      <p:cxnSp>
        <p:nvCxnSpPr>
          <p:cNvPr id="37" name="Connector 36"/>
          <p:cNvCxnSpPr/>
          <p:nvPr/>
        </p:nvCxnSpPr>
        <p:spPr>
          <a:xfrm>
            <a:off x="7150608" y="335584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486400" y="457200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Reply agent</a:t>
            </a:r>
          </a:p>
          <a:p>
            <a:pPr algn="ctr"/>
            <a:r>
              <a:rPr sz="900" b="0" i="0">
                <a:solidFill>
                  <a:srgbClr val="6B7280"/>
                </a:solidFill>
                <a:latin typeface="Arial"/>
              </a:rPr>
              <a:t>drafts replies and forwards</a:t>
            </a:r>
          </a:p>
        </p:txBody>
      </p:sp>
      <p:cxnSp>
        <p:nvCxnSpPr>
          <p:cNvPr id="39" name="Connector 38"/>
          <p:cNvCxnSpPr/>
          <p:nvPr/>
        </p:nvCxnSpPr>
        <p:spPr>
          <a:xfrm>
            <a:off x="4773168" y="3337560"/>
            <a:ext cx="694944" cy="157276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589520" y="43434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41" name="Connector 40"/>
          <p:cNvCxnSpPr/>
          <p:nvPr/>
        </p:nvCxnSpPr>
        <p:spPr>
          <a:xfrm flipV="1">
            <a:off x="7150608" y="448970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589520" y="47091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draft_reply</a:t>
            </a:r>
          </a:p>
        </p:txBody>
      </p:sp>
      <p:cxnSp>
        <p:nvCxnSpPr>
          <p:cNvPr id="43" name="Connector 42"/>
          <p:cNvCxnSpPr/>
          <p:nvPr/>
        </p:nvCxnSpPr>
        <p:spPr>
          <a:xfrm flipV="1">
            <a:off x="7150608" y="485546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589520" y="5074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forward_email</a:t>
            </a:r>
          </a:p>
        </p:txBody>
      </p:sp>
      <p:cxnSp>
        <p:nvCxnSpPr>
          <p:cNvPr id="45" name="Connector 44"/>
          <p:cNvCxnSpPr/>
          <p:nvPr/>
        </p:nvCxnSpPr>
        <p:spPr>
          <a:xfrm>
            <a:off x="7150608" y="491032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846320" y="2148840"/>
            <a:ext cx="1280160" cy="274320"/>
          </a:xfrm>
          <a:prstGeom prst="rect">
            <a:avLst/>
          </a:prstGeom>
          <a:noFill/>
        </p:spPr>
        <p:txBody>
          <a:bodyPr wrap="square" anchor="t">
            <a:spAutoFit/>
          </a:bodyPr>
          <a:lstStyle/>
          <a:p>
            <a:pPr algn="ctr">
              <a:spcAft>
                <a:spcPts val="400"/>
              </a:spcAft>
            </a:pPr>
            <a:r>
              <a:rPr sz="900" b="0" i="0">
                <a:solidFill>
                  <a:srgbClr val="6B7280"/>
                </a:solidFill>
                <a:latin typeface="Arial"/>
              </a:rPr>
              <a:t>instruction ⇄ report</a:t>
            </a:r>
          </a:p>
        </p:txBody>
      </p:sp>
      <p:sp>
        <p:nvSpPr>
          <p:cNvPr id="47" name="Rounded Rectangle 46"/>
          <p:cNvSpPr/>
          <p:nvPr/>
        </p:nvSpPr>
        <p:spPr>
          <a:xfrm>
            <a:off x="5486400" y="5623560"/>
            <a:ext cx="356616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Long-term memory</a:t>
            </a:r>
          </a:p>
          <a:p>
            <a:pPr algn="ctr"/>
            <a:r>
              <a:rPr sz="850" b="0" i="0">
                <a:solidFill>
                  <a:srgbClr val="6B7280"/>
                </a:solidFill>
                <a:latin typeface="Arial"/>
              </a:rPr>
              <a:t>the inbox state and what you saved in the blocks · only through tools</a:t>
            </a:r>
          </a:p>
        </p:txBody>
      </p:sp>
      <p:cxnSp>
        <p:nvCxnSpPr>
          <p:cNvPr id="48" name="Connector 47"/>
          <p:cNvCxnSpPr/>
          <p:nvPr/>
        </p:nvCxnSpPr>
        <p:spPr>
          <a:xfrm>
            <a:off x="8321040" y="5486400"/>
            <a:ext cx="0" cy="11887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458200" y="5504688"/>
            <a:ext cx="0" cy="1005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9418320" y="1371600"/>
            <a:ext cx="2194560" cy="18288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28048" y="1444752"/>
            <a:ext cx="1975104" cy="292608"/>
          </a:xfrm>
          <a:prstGeom prst="rect">
            <a:avLst/>
          </a:prstGeom>
          <a:noFill/>
        </p:spPr>
        <p:txBody>
          <a:bodyPr wrap="square" anchor="t">
            <a:spAutoFit/>
          </a:bodyPr>
          <a:lstStyle/>
          <a:p>
            <a:pPr algn="l">
              <a:spcAft>
                <a:spcPts val="400"/>
              </a:spcAft>
            </a:pPr>
            <a:r>
              <a:rPr sz="1050" b="1" i="0">
                <a:solidFill>
                  <a:srgbClr val="8A6A2E"/>
                </a:solidFill>
                <a:latin typeface="Arial"/>
              </a:rPr>
              <a:t>DELEGATION</a:t>
            </a:r>
          </a:p>
        </p:txBody>
      </p:sp>
      <p:sp>
        <p:nvSpPr>
          <p:cNvPr id="52" name="TextBox 51"/>
          <p:cNvSpPr txBox="1"/>
          <p:nvPr/>
        </p:nvSpPr>
        <p:spPr>
          <a:xfrm>
            <a:off x="9528048" y="1719072"/>
            <a:ext cx="1975104" cy="1417320"/>
          </a:xfrm>
          <a:prstGeom prst="rect">
            <a:avLst/>
          </a:prstGeom>
          <a:noFill/>
        </p:spPr>
        <p:txBody>
          <a:bodyPr wrap="square" anchor="t">
            <a:spAutoFit/>
          </a:bodyPr>
          <a:lstStyle/>
          <a:p>
            <a:pPr algn="l">
              <a:spcAft>
                <a:spcPts val="200"/>
              </a:spcAft>
            </a:pPr>
            <a:r>
              <a:rPr sz="1050" b="0" i="0">
                <a:solidFill>
                  <a:srgbClr val="000000"/>
                </a:solidFill>
                <a:latin typeface="Arial"/>
              </a:rPr>
              <a:t>The orchestrator never labels or drafts. It gives one sub-agent one instruction and reads the report. Each sub-agent is a fresh model call with a few tools.</a:t>
            </a:r>
          </a:p>
        </p:txBody>
      </p:sp>
      <p:sp>
        <p:nvSpPr>
          <p:cNvPr id="53" name="Rectangle 52"/>
          <p:cNvSpPr/>
          <p:nvPr/>
        </p:nvSpPr>
        <p:spPr>
          <a:xfrm>
            <a:off x="9418320" y="3474720"/>
            <a:ext cx="2194560" cy="13716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28048" y="3547872"/>
            <a:ext cx="1975104" cy="292608"/>
          </a:xfrm>
          <a:prstGeom prst="rect">
            <a:avLst/>
          </a:prstGeom>
          <a:noFill/>
        </p:spPr>
        <p:txBody>
          <a:bodyPr wrap="square" anchor="t">
            <a:spAutoFit/>
          </a:bodyPr>
          <a:lstStyle/>
          <a:p>
            <a:pPr algn="l">
              <a:spcAft>
                <a:spcPts val="400"/>
              </a:spcAft>
            </a:pPr>
            <a:r>
              <a:rPr sz="1050" b="1" i="0">
                <a:solidFill>
                  <a:srgbClr val="8A6A2E"/>
                </a:solidFill>
                <a:latin typeface="Arial"/>
              </a:rPr>
              <a:t>TOOLS</a:t>
            </a:r>
          </a:p>
        </p:txBody>
      </p:sp>
      <p:sp>
        <p:nvSpPr>
          <p:cNvPr id="55" name="TextBox 54"/>
          <p:cNvSpPr txBox="1"/>
          <p:nvPr/>
        </p:nvSpPr>
        <p:spPr>
          <a:xfrm>
            <a:off x="9528048" y="3822191"/>
            <a:ext cx="1975104" cy="960120"/>
          </a:xfrm>
          <a:prstGeom prst="rect">
            <a:avLst/>
          </a:prstGeom>
          <a:noFill/>
        </p:spPr>
        <p:txBody>
          <a:bodyPr wrap="square" anchor="t">
            <a:spAutoFit/>
          </a:bodyPr>
          <a:lstStyle/>
          <a:p>
            <a:pPr algn="l">
              <a:spcAft>
                <a:spcPts val="200"/>
              </a:spcAft>
            </a:pPr>
            <a:r>
              <a:rPr sz="1050" b="0" i="0">
                <a:solidFill>
                  <a:srgbClr val="000000"/>
                </a:solidFill>
                <a:latin typeface="Arial"/>
              </a:rPr>
              <a:t>Typed functions. The first ones only read; the ones that change the inbox come next.</a:t>
            </a:r>
          </a:p>
        </p:txBody>
      </p:sp>
      <p:sp>
        <p:nvSpPr>
          <p:cNvPr id="56" name="Rounded Rectangle 55"/>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58" name="Rounded Rectangle 57"/>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60" name="Rounded Rectangle 59"/>
          <p:cNvSpPr/>
          <p:nvPr/>
        </p:nvSpPr>
        <p:spPr>
          <a:xfrm>
            <a:off x="3383280" y="5650992"/>
            <a:ext cx="256032" cy="164592"/>
          </a:xfrm>
          <a:prstGeom prst="roundRect">
            <a:avLst/>
          </a:prstGeom>
          <a:solidFill>
            <a:srgbClr val="EEEAF9"/>
          </a:solidFill>
          <a:ln w="12700">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brief &amp; skills</a:t>
            </a:r>
          </a:p>
        </p:txBody>
      </p:sp>
      <p:sp>
        <p:nvSpPr>
          <p:cNvPr id="62" name="Rounded Rectangle 61"/>
          <p:cNvSpPr/>
          <p:nvPr/>
        </p:nvSpPr>
        <p:spPr>
          <a:xfrm>
            <a:off x="548640" y="592531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64" name="Rounded Rectangle 63"/>
          <p:cNvSpPr/>
          <p:nvPr/>
        </p:nvSpPr>
        <p:spPr>
          <a:xfrm>
            <a:off x="196596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66" name="TextBox 65"/>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The orchestrator delegates to three sub-agents. Each one is a separate model call with a few tools; the inbox is the long-term memory, reached only through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3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3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132588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Triage agent</a:t>
            </a:r>
          </a:p>
          <a:p>
            <a:pPr algn="ctr"/>
            <a:r>
              <a:rPr sz="900" b="0" i="0">
                <a:solidFill>
                  <a:srgbClr val="6B7280"/>
                </a:solidFill>
                <a:latin typeface="Arial"/>
              </a:rPr>
              <a:t>labels and archives in batches</a:t>
            </a:r>
          </a:p>
        </p:txBody>
      </p:sp>
      <p:cxnSp>
        <p:nvCxnSpPr>
          <p:cNvPr id="21" name="Connector 20"/>
          <p:cNvCxnSpPr/>
          <p:nvPr/>
        </p:nvCxnSpPr>
        <p:spPr>
          <a:xfrm flipV="1">
            <a:off x="4773168" y="1664207"/>
            <a:ext cx="694944" cy="1673353"/>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89520" y="109728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23" name="Connector 22"/>
          <p:cNvCxnSpPr/>
          <p:nvPr/>
        </p:nvCxnSpPr>
        <p:spPr>
          <a:xfrm flipV="1">
            <a:off x="7150608" y="1243584"/>
            <a:ext cx="420623" cy="42062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146304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25" name="Connector 24"/>
          <p:cNvCxnSpPr/>
          <p:nvPr/>
        </p:nvCxnSpPr>
        <p:spPr>
          <a:xfrm flipV="1">
            <a:off x="7150608" y="1609344"/>
            <a:ext cx="420623" cy="5486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589520" y="18288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label_emails</a:t>
            </a:r>
          </a:p>
        </p:txBody>
      </p:sp>
      <p:cxnSp>
        <p:nvCxnSpPr>
          <p:cNvPr id="27" name="Connector 26"/>
          <p:cNvCxnSpPr/>
          <p:nvPr/>
        </p:nvCxnSpPr>
        <p:spPr>
          <a:xfrm>
            <a:off x="7150608" y="1664207"/>
            <a:ext cx="420623" cy="31089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21945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archive_emails</a:t>
            </a:r>
          </a:p>
        </p:txBody>
      </p:sp>
      <p:cxnSp>
        <p:nvCxnSpPr>
          <p:cNvPr id="29" name="Connector 28"/>
          <p:cNvCxnSpPr/>
          <p:nvPr/>
        </p:nvCxnSpPr>
        <p:spPr>
          <a:xfrm>
            <a:off x="7150608" y="1664207"/>
            <a:ext cx="420623" cy="67665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486400" y="301752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Deadline agent</a:t>
            </a:r>
          </a:p>
          <a:p>
            <a:pPr algn="ctr"/>
            <a:r>
              <a:rPr sz="900" b="0" i="0">
                <a:solidFill>
                  <a:srgbClr val="6B7280"/>
                </a:solidFill>
                <a:latin typeface="Arial"/>
              </a:rPr>
              <a:t>finds dates, creates tasks</a:t>
            </a:r>
          </a:p>
        </p:txBody>
      </p:sp>
      <p:cxnSp>
        <p:nvCxnSpPr>
          <p:cNvPr id="31" name="Connector 30"/>
          <p:cNvCxnSpPr/>
          <p:nvPr/>
        </p:nvCxnSpPr>
        <p:spPr>
          <a:xfrm>
            <a:off x="4773168" y="3337560"/>
            <a:ext cx="694944" cy="1828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589520" y="2788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33" name="Connector 32"/>
          <p:cNvCxnSpPr/>
          <p:nvPr/>
        </p:nvCxnSpPr>
        <p:spPr>
          <a:xfrm flipV="1">
            <a:off x="7150608" y="293522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315467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35" name="Connector 34"/>
          <p:cNvCxnSpPr/>
          <p:nvPr/>
        </p:nvCxnSpPr>
        <p:spPr>
          <a:xfrm flipV="1">
            <a:off x="7150608" y="330098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589520" y="352043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create_task</a:t>
            </a:r>
          </a:p>
        </p:txBody>
      </p:sp>
      <p:cxnSp>
        <p:nvCxnSpPr>
          <p:cNvPr id="37" name="Connector 36"/>
          <p:cNvCxnSpPr/>
          <p:nvPr/>
        </p:nvCxnSpPr>
        <p:spPr>
          <a:xfrm>
            <a:off x="7150608" y="335584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486400" y="457200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Reply agent</a:t>
            </a:r>
          </a:p>
          <a:p>
            <a:pPr algn="ctr"/>
            <a:r>
              <a:rPr sz="900" b="0" i="0">
                <a:solidFill>
                  <a:srgbClr val="6B7280"/>
                </a:solidFill>
                <a:latin typeface="Arial"/>
              </a:rPr>
              <a:t>drafts replies and forwards</a:t>
            </a:r>
          </a:p>
        </p:txBody>
      </p:sp>
      <p:cxnSp>
        <p:nvCxnSpPr>
          <p:cNvPr id="39" name="Connector 38"/>
          <p:cNvCxnSpPr/>
          <p:nvPr/>
        </p:nvCxnSpPr>
        <p:spPr>
          <a:xfrm>
            <a:off x="4773168" y="3337560"/>
            <a:ext cx="694944" cy="157276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589520" y="43434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41" name="Connector 40"/>
          <p:cNvCxnSpPr/>
          <p:nvPr/>
        </p:nvCxnSpPr>
        <p:spPr>
          <a:xfrm flipV="1">
            <a:off x="7150608" y="448970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589520" y="47091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draft_reply</a:t>
            </a:r>
          </a:p>
        </p:txBody>
      </p:sp>
      <p:cxnSp>
        <p:nvCxnSpPr>
          <p:cNvPr id="43" name="Connector 42"/>
          <p:cNvCxnSpPr/>
          <p:nvPr/>
        </p:nvCxnSpPr>
        <p:spPr>
          <a:xfrm flipV="1">
            <a:off x="7150608" y="485546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589520" y="5074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forward_email</a:t>
            </a:r>
          </a:p>
        </p:txBody>
      </p:sp>
      <p:cxnSp>
        <p:nvCxnSpPr>
          <p:cNvPr id="45" name="Connector 44"/>
          <p:cNvCxnSpPr/>
          <p:nvPr/>
        </p:nvCxnSpPr>
        <p:spPr>
          <a:xfrm>
            <a:off x="7150608" y="491032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846320" y="2148840"/>
            <a:ext cx="1280160" cy="274320"/>
          </a:xfrm>
          <a:prstGeom prst="rect">
            <a:avLst/>
          </a:prstGeom>
          <a:noFill/>
        </p:spPr>
        <p:txBody>
          <a:bodyPr wrap="square" anchor="t">
            <a:spAutoFit/>
          </a:bodyPr>
          <a:lstStyle/>
          <a:p>
            <a:pPr algn="ctr">
              <a:spcAft>
                <a:spcPts val="400"/>
              </a:spcAft>
            </a:pPr>
            <a:r>
              <a:rPr sz="900" b="0" i="0">
                <a:solidFill>
                  <a:srgbClr val="6B7280"/>
                </a:solidFill>
                <a:latin typeface="Arial"/>
              </a:rPr>
              <a:t>instruction ⇄ report</a:t>
            </a:r>
          </a:p>
        </p:txBody>
      </p:sp>
      <p:sp>
        <p:nvSpPr>
          <p:cNvPr id="47" name="Rounded Rectangle 46"/>
          <p:cNvSpPr/>
          <p:nvPr/>
        </p:nvSpPr>
        <p:spPr>
          <a:xfrm>
            <a:off x="5486400" y="5623560"/>
            <a:ext cx="356616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Long-term memory</a:t>
            </a:r>
          </a:p>
          <a:p>
            <a:pPr algn="ctr"/>
            <a:r>
              <a:rPr sz="850" b="0" i="0">
                <a:solidFill>
                  <a:srgbClr val="6B7280"/>
                </a:solidFill>
                <a:latin typeface="Arial"/>
              </a:rPr>
              <a:t>the inbox state and what you saved in the blocks · only through tools</a:t>
            </a:r>
          </a:p>
        </p:txBody>
      </p:sp>
      <p:cxnSp>
        <p:nvCxnSpPr>
          <p:cNvPr id="48" name="Connector 47"/>
          <p:cNvCxnSpPr/>
          <p:nvPr/>
        </p:nvCxnSpPr>
        <p:spPr>
          <a:xfrm>
            <a:off x="8321040" y="5486400"/>
            <a:ext cx="0" cy="11887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458200" y="5504688"/>
            <a:ext cx="0" cy="1005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372600" y="3063240"/>
            <a:ext cx="1325880" cy="77724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code, not persuasion</a:t>
            </a:r>
          </a:p>
        </p:txBody>
      </p:sp>
      <p:cxnSp>
        <p:nvCxnSpPr>
          <p:cNvPr id="51" name="Connector 50"/>
          <p:cNvCxnSpPr/>
          <p:nvPr/>
        </p:nvCxnSpPr>
        <p:spPr>
          <a:xfrm>
            <a:off x="9070848" y="1975104"/>
            <a:ext cx="283464" cy="147218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070848" y="2340864"/>
            <a:ext cx="283464" cy="11064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9070848" y="3447288"/>
            <a:ext cx="283464" cy="21945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9070848" y="3447288"/>
            <a:ext cx="283464" cy="140817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9070848" y="3447288"/>
            <a:ext cx="283464" cy="177393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10927080" y="2103120"/>
            <a:ext cx="1143000" cy="64008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Executed</a:t>
            </a:r>
          </a:p>
          <a:p>
            <a:pPr algn="ctr"/>
            <a:r>
              <a:rPr sz="900" b="0" i="0">
                <a:solidFill>
                  <a:srgbClr val="6B7280"/>
                </a:solidFill>
                <a:latin typeface="Arial"/>
              </a:rPr>
              <a:t>within limits</a:t>
            </a:r>
          </a:p>
        </p:txBody>
      </p:sp>
      <p:sp>
        <p:nvSpPr>
          <p:cNvPr id="57" name="Rounded Rectangle 56"/>
          <p:cNvSpPr/>
          <p:nvPr/>
        </p:nvSpPr>
        <p:spPr>
          <a:xfrm>
            <a:off x="10927080" y="4160520"/>
            <a:ext cx="11430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Human approval</a:t>
            </a:r>
          </a:p>
          <a:p>
            <a:pPr algn="ctr"/>
            <a:r>
              <a:rPr sz="850" b="0" i="0">
                <a:solidFill>
                  <a:srgbClr val="6B7280"/>
                </a:solidFill>
                <a:latin typeface="Arial"/>
              </a:rPr>
              <a:t>above the line</a:t>
            </a:r>
          </a:p>
        </p:txBody>
      </p:sp>
      <p:cxnSp>
        <p:nvCxnSpPr>
          <p:cNvPr id="58" name="Connector 57"/>
          <p:cNvCxnSpPr/>
          <p:nvPr/>
        </p:nvCxnSpPr>
        <p:spPr>
          <a:xfrm flipV="1">
            <a:off x="10716768" y="2514600"/>
            <a:ext cx="192024" cy="777240"/>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469880" y="2697480"/>
            <a:ext cx="548640" cy="274320"/>
          </a:xfrm>
          <a:prstGeom prst="rect">
            <a:avLst/>
          </a:prstGeom>
          <a:noFill/>
        </p:spPr>
        <p:txBody>
          <a:bodyPr wrap="square" anchor="t">
            <a:spAutoFit/>
          </a:bodyPr>
          <a:lstStyle/>
          <a:p>
            <a:pPr algn="l">
              <a:spcAft>
                <a:spcPts val="400"/>
              </a:spcAft>
            </a:pPr>
            <a:r>
              <a:rPr sz="900" b="0" i="0">
                <a:solidFill>
                  <a:srgbClr val="2C8A5A"/>
                </a:solidFill>
                <a:latin typeface="Arial"/>
              </a:rPr>
              <a:t>≤ limit</a:t>
            </a:r>
          </a:p>
        </p:txBody>
      </p:sp>
      <p:cxnSp>
        <p:nvCxnSpPr>
          <p:cNvPr id="60" name="Connector 59"/>
          <p:cNvCxnSpPr/>
          <p:nvPr/>
        </p:nvCxnSpPr>
        <p:spPr>
          <a:xfrm>
            <a:off x="10716768" y="3657600"/>
            <a:ext cx="192024" cy="73152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69880" y="3931920"/>
            <a:ext cx="548640" cy="274320"/>
          </a:xfrm>
          <a:prstGeom prst="rect">
            <a:avLst/>
          </a:prstGeom>
          <a:noFill/>
        </p:spPr>
        <p:txBody>
          <a:bodyPr wrap="square" anchor="t">
            <a:spAutoFit/>
          </a:bodyPr>
          <a:lstStyle/>
          <a:p>
            <a:pPr algn="l">
              <a:spcAft>
                <a:spcPts val="400"/>
              </a:spcAft>
            </a:pPr>
            <a:r>
              <a:rPr sz="900" b="0" i="0">
                <a:solidFill>
                  <a:srgbClr val="B4761C"/>
                </a:solidFill>
                <a:latin typeface="Arial"/>
              </a:rPr>
              <a:t>&gt; limit</a:t>
            </a:r>
          </a:p>
        </p:txBody>
      </p:sp>
      <p:cxnSp>
        <p:nvCxnSpPr>
          <p:cNvPr id="62" name="Connector 61"/>
          <p:cNvCxnSpPr/>
          <p:nvPr/>
        </p:nvCxnSpPr>
        <p:spPr>
          <a:xfrm>
            <a:off x="10040112" y="3858768"/>
            <a:ext cx="0" cy="237744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5120640" y="6236208"/>
            <a:ext cx="4919472" cy="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120640" y="3840480"/>
            <a:ext cx="0" cy="2395728"/>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4791456" y="3840480"/>
            <a:ext cx="329184" cy="0"/>
          </a:xfrm>
          <a:prstGeom prst="line">
            <a:avLst/>
          </a:prstGeom>
          <a:ln w="15875">
            <a:solidFill>
              <a:srgbClr val="BF3F3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0131552" y="4983480"/>
            <a:ext cx="2011680" cy="457200"/>
          </a:xfrm>
          <a:prstGeom prst="rect">
            <a:avLst/>
          </a:prstGeom>
          <a:noFill/>
        </p:spPr>
        <p:txBody>
          <a:bodyPr wrap="square" anchor="t">
            <a:spAutoFit/>
          </a:bodyPr>
          <a:lstStyle/>
          <a:p>
            <a:pPr algn="l">
              <a:spcAft>
                <a:spcPts val="400"/>
              </a:spcAft>
            </a:pPr>
            <a:r>
              <a:rPr sz="900" b="0" i="0">
                <a:solidFill>
                  <a:srgbClr val="BF3F3A"/>
                </a:solidFill>
                <a:latin typeface="Arial"/>
              </a:rPr>
              <a:t>blocked or rejected → tool error to the sub-agent, which reports it up</a:t>
            </a:r>
          </a:p>
        </p:txBody>
      </p:sp>
      <p:sp>
        <p:nvSpPr>
          <p:cNvPr id="67" name="Rounded Rectangle 66"/>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69" name="Rounded Rectangle 68"/>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71" name="Rounded Rectangle 70"/>
          <p:cNvSpPr/>
          <p:nvPr/>
        </p:nvSpPr>
        <p:spPr>
          <a:xfrm>
            <a:off x="3383280" y="565099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73" name="Rounded Rectangle 72"/>
          <p:cNvSpPr/>
          <p:nvPr/>
        </p:nvSpPr>
        <p:spPr>
          <a:xfrm>
            <a:off x="54864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75" name="Rounded Rectangle 74"/>
          <p:cNvSpPr/>
          <p:nvPr/>
        </p:nvSpPr>
        <p:spPr>
          <a:xfrm>
            <a:off x="1965960" y="5925312"/>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
        <p:nvSpPr>
          <p:cNvPr id="77" name="Rounded Rectangle 76"/>
          <p:cNvSpPr/>
          <p:nvPr/>
        </p:nvSpPr>
        <p:spPr>
          <a:xfrm>
            <a:off x="3383280" y="5925312"/>
            <a:ext cx="256032" cy="164592"/>
          </a:xfrm>
          <a:prstGeom prst="roundRect">
            <a:avLst/>
          </a:prstGeom>
          <a:solidFill>
            <a:srgbClr val="E4F3EB"/>
          </a:solidFill>
          <a:ln w="12700">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69417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executed</a:t>
            </a:r>
          </a:p>
        </p:txBody>
      </p:sp>
      <p:sp>
        <p:nvSpPr>
          <p:cNvPr id="79" name="TextBox 78"/>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Tools that change the inbox pass a guardrail written in code. Below the limit they run; above it a person decides; blocked or rejected goes back up as a tool error.</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